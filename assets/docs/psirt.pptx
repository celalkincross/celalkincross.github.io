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1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64" r:id="rId12"/>
    <p:sldId id="269" r:id="rId13"/>
    <p:sldId id="270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41"/>
    <p:restoredTop sz="94719"/>
  </p:normalViewPr>
  <p:slideViewPr>
    <p:cSldViewPr snapToGrid="0">
      <p:cViewPr varScale="1">
        <p:scale>
          <a:sx n="152" d="100"/>
          <a:sy n="152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9FE6BF-6873-4D8C-BF7B-51AD1B858CD3}" type="doc">
      <dgm:prSet loTypeId="urn:microsoft.com/office/officeart/2005/8/layout/process4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3F234CDF-D5A1-4337-8533-93A79F41FB84}">
      <dgm:prSet/>
      <dgm:spPr/>
      <dgm:t>
        <a:bodyPr/>
        <a:lstStyle/>
        <a:p>
          <a:r>
            <a:rPr lang="en-US" dirty="0"/>
            <a:t>CNA: Responsibilities of a CVE Numbering Authority </a:t>
          </a:r>
        </a:p>
      </dgm:t>
    </dgm:pt>
    <dgm:pt modelId="{C8E7C833-97BE-4771-8403-D4E944EBC107}" type="parTrans" cxnId="{3F4CE990-1D63-4E5D-A5AE-D0193FFD87B5}">
      <dgm:prSet/>
      <dgm:spPr/>
      <dgm:t>
        <a:bodyPr/>
        <a:lstStyle/>
        <a:p>
          <a:endParaRPr lang="en-US"/>
        </a:p>
      </dgm:t>
    </dgm:pt>
    <dgm:pt modelId="{C6B59772-9F53-4BA8-960E-2B0D922836ED}" type="sibTrans" cxnId="{3F4CE990-1D63-4E5D-A5AE-D0193FFD87B5}">
      <dgm:prSet/>
      <dgm:spPr/>
      <dgm:t>
        <a:bodyPr/>
        <a:lstStyle/>
        <a:p>
          <a:endParaRPr lang="en-US"/>
        </a:p>
      </dgm:t>
    </dgm:pt>
    <dgm:pt modelId="{FFF78CBA-5FEA-4DA5-A883-98B03A297A58}">
      <dgm:prSet/>
      <dgm:spPr/>
      <dgm:t>
        <a:bodyPr/>
        <a:lstStyle/>
        <a:p>
          <a:r>
            <a:rPr lang="en-US" dirty="0"/>
            <a:t>Actions and Recommendations for PSIRT handling with conditions:</a:t>
          </a:r>
        </a:p>
        <a:p>
          <a:r>
            <a:rPr lang="en-US" dirty="0"/>
            <a:t>a. Discovery of a serious Zero-Day vulnerability </a:t>
          </a:r>
        </a:p>
        <a:p>
          <a:r>
            <a:rPr lang="en-US" dirty="0"/>
            <a:t>	       b. R&amp;D cannot fix the issue within the required time frame. </a:t>
          </a:r>
        </a:p>
      </dgm:t>
    </dgm:pt>
    <dgm:pt modelId="{0AC82FE5-51E9-429B-B9F4-27C50795FB4A}" type="parTrans" cxnId="{BE23E528-FFB9-4909-8E85-37A33532A47B}">
      <dgm:prSet/>
      <dgm:spPr/>
      <dgm:t>
        <a:bodyPr/>
        <a:lstStyle/>
        <a:p>
          <a:endParaRPr lang="en-US"/>
        </a:p>
      </dgm:t>
    </dgm:pt>
    <dgm:pt modelId="{FA391071-9BBE-4EAE-A568-5E0CC9C5B1F3}" type="sibTrans" cxnId="{BE23E528-FFB9-4909-8E85-37A33532A47B}">
      <dgm:prSet/>
      <dgm:spPr/>
      <dgm:t>
        <a:bodyPr/>
        <a:lstStyle/>
        <a:p>
          <a:endParaRPr lang="en-US"/>
        </a:p>
      </dgm:t>
    </dgm:pt>
    <dgm:pt modelId="{DC63E429-895B-4A01-ACB8-7ACBED0F8141}">
      <dgm:prSet/>
      <dgm:spPr/>
      <dgm:t>
        <a:bodyPr/>
        <a:lstStyle/>
        <a:p>
          <a:r>
            <a:rPr lang="en-US" dirty="0"/>
            <a:t>Questions?</a:t>
          </a:r>
        </a:p>
      </dgm:t>
    </dgm:pt>
    <dgm:pt modelId="{1F085538-193F-439D-B88B-30C924E82F2E}" type="parTrans" cxnId="{C5A2DB60-43D5-495C-AB8D-EFDEA8E97C77}">
      <dgm:prSet/>
      <dgm:spPr/>
      <dgm:t>
        <a:bodyPr/>
        <a:lstStyle/>
        <a:p>
          <a:endParaRPr lang="en-US"/>
        </a:p>
      </dgm:t>
    </dgm:pt>
    <dgm:pt modelId="{C0901F3E-2E15-4AC2-BA99-467F0C4F8635}" type="sibTrans" cxnId="{C5A2DB60-43D5-495C-AB8D-EFDEA8E97C77}">
      <dgm:prSet/>
      <dgm:spPr/>
      <dgm:t>
        <a:bodyPr/>
        <a:lstStyle/>
        <a:p>
          <a:endParaRPr lang="en-US"/>
        </a:p>
      </dgm:t>
    </dgm:pt>
    <dgm:pt modelId="{6900367C-28A4-5A40-968E-2F5B3F52661A}" type="pres">
      <dgm:prSet presAssocID="{329FE6BF-6873-4D8C-BF7B-51AD1B858CD3}" presName="Name0" presStyleCnt="0">
        <dgm:presLayoutVars>
          <dgm:dir/>
          <dgm:animLvl val="lvl"/>
          <dgm:resizeHandles val="exact"/>
        </dgm:presLayoutVars>
      </dgm:prSet>
      <dgm:spPr/>
    </dgm:pt>
    <dgm:pt modelId="{C4F068D1-4CFE-494D-A521-B60FB23B0EC1}" type="pres">
      <dgm:prSet presAssocID="{DC63E429-895B-4A01-ACB8-7ACBED0F8141}" presName="boxAndChildren" presStyleCnt="0"/>
      <dgm:spPr/>
    </dgm:pt>
    <dgm:pt modelId="{47995EF7-9925-4848-B1C5-61FE2E6C29F5}" type="pres">
      <dgm:prSet presAssocID="{DC63E429-895B-4A01-ACB8-7ACBED0F8141}" presName="parentTextBox" presStyleLbl="node1" presStyleIdx="0" presStyleCnt="3"/>
      <dgm:spPr/>
    </dgm:pt>
    <dgm:pt modelId="{47E4EDD2-5167-2C43-A386-E39414C51A4C}" type="pres">
      <dgm:prSet presAssocID="{FA391071-9BBE-4EAE-A568-5E0CC9C5B1F3}" presName="sp" presStyleCnt="0"/>
      <dgm:spPr/>
    </dgm:pt>
    <dgm:pt modelId="{1C6A69BE-A747-194C-B300-21F0277EBC01}" type="pres">
      <dgm:prSet presAssocID="{FFF78CBA-5FEA-4DA5-A883-98B03A297A58}" presName="arrowAndChildren" presStyleCnt="0"/>
      <dgm:spPr/>
    </dgm:pt>
    <dgm:pt modelId="{AC1B7E24-B340-2D4D-85E0-5A6B9D9F2A6F}" type="pres">
      <dgm:prSet presAssocID="{FFF78CBA-5FEA-4DA5-A883-98B03A297A58}" presName="parentTextArrow" presStyleLbl="node1" presStyleIdx="1" presStyleCnt="3"/>
      <dgm:spPr/>
    </dgm:pt>
    <dgm:pt modelId="{A9517603-5715-9547-882D-CB8E4A6AA15A}" type="pres">
      <dgm:prSet presAssocID="{C6B59772-9F53-4BA8-960E-2B0D922836ED}" presName="sp" presStyleCnt="0"/>
      <dgm:spPr/>
    </dgm:pt>
    <dgm:pt modelId="{2E3548EF-A6CE-D344-928A-E20E3AEFF805}" type="pres">
      <dgm:prSet presAssocID="{3F234CDF-D5A1-4337-8533-93A79F41FB84}" presName="arrowAndChildren" presStyleCnt="0"/>
      <dgm:spPr/>
    </dgm:pt>
    <dgm:pt modelId="{DF992D4B-66BA-DA47-8894-42CC884D3DBB}" type="pres">
      <dgm:prSet presAssocID="{3F234CDF-D5A1-4337-8533-93A79F41FB84}" presName="parentTextArrow" presStyleLbl="node1" presStyleIdx="2" presStyleCnt="3"/>
      <dgm:spPr/>
    </dgm:pt>
  </dgm:ptLst>
  <dgm:cxnLst>
    <dgm:cxn modelId="{2C380519-EEFE-D142-8F27-F3C8F1D008A9}" type="presOf" srcId="{3F234CDF-D5A1-4337-8533-93A79F41FB84}" destId="{DF992D4B-66BA-DA47-8894-42CC884D3DBB}" srcOrd="0" destOrd="0" presId="urn:microsoft.com/office/officeart/2005/8/layout/process4"/>
    <dgm:cxn modelId="{BE23E528-FFB9-4909-8E85-37A33532A47B}" srcId="{329FE6BF-6873-4D8C-BF7B-51AD1B858CD3}" destId="{FFF78CBA-5FEA-4DA5-A883-98B03A297A58}" srcOrd="1" destOrd="0" parTransId="{0AC82FE5-51E9-429B-B9F4-27C50795FB4A}" sibTransId="{FA391071-9BBE-4EAE-A568-5E0CC9C5B1F3}"/>
    <dgm:cxn modelId="{C5A2DB60-43D5-495C-AB8D-EFDEA8E97C77}" srcId="{329FE6BF-6873-4D8C-BF7B-51AD1B858CD3}" destId="{DC63E429-895B-4A01-ACB8-7ACBED0F8141}" srcOrd="2" destOrd="0" parTransId="{1F085538-193F-439D-B88B-30C924E82F2E}" sibTransId="{C0901F3E-2E15-4AC2-BA99-467F0C4F8635}"/>
    <dgm:cxn modelId="{3F4CE990-1D63-4E5D-A5AE-D0193FFD87B5}" srcId="{329FE6BF-6873-4D8C-BF7B-51AD1B858CD3}" destId="{3F234CDF-D5A1-4337-8533-93A79F41FB84}" srcOrd="0" destOrd="0" parTransId="{C8E7C833-97BE-4771-8403-D4E944EBC107}" sibTransId="{C6B59772-9F53-4BA8-960E-2B0D922836ED}"/>
    <dgm:cxn modelId="{047C0FBF-F43F-434F-9248-96C879690653}" type="presOf" srcId="{329FE6BF-6873-4D8C-BF7B-51AD1B858CD3}" destId="{6900367C-28A4-5A40-968E-2F5B3F52661A}" srcOrd="0" destOrd="0" presId="urn:microsoft.com/office/officeart/2005/8/layout/process4"/>
    <dgm:cxn modelId="{72FE13F5-C21D-EC44-AE26-10B09FF8028B}" type="presOf" srcId="{FFF78CBA-5FEA-4DA5-A883-98B03A297A58}" destId="{AC1B7E24-B340-2D4D-85E0-5A6B9D9F2A6F}" srcOrd="0" destOrd="0" presId="urn:microsoft.com/office/officeart/2005/8/layout/process4"/>
    <dgm:cxn modelId="{5DFAADFE-9E4A-6043-9618-55639BC6A3A9}" type="presOf" srcId="{DC63E429-895B-4A01-ACB8-7ACBED0F8141}" destId="{47995EF7-9925-4848-B1C5-61FE2E6C29F5}" srcOrd="0" destOrd="0" presId="urn:microsoft.com/office/officeart/2005/8/layout/process4"/>
    <dgm:cxn modelId="{B7835499-C240-1946-889D-70AAE682DDAC}" type="presParOf" srcId="{6900367C-28A4-5A40-968E-2F5B3F52661A}" destId="{C4F068D1-4CFE-494D-A521-B60FB23B0EC1}" srcOrd="0" destOrd="0" presId="urn:microsoft.com/office/officeart/2005/8/layout/process4"/>
    <dgm:cxn modelId="{DFD2FA88-B6A6-BF48-BF38-CACA647D4C7B}" type="presParOf" srcId="{C4F068D1-4CFE-494D-A521-B60FB23B0EC1}" destId="{47995EF7-9925-4848-B1C5-61FE2E6C29F5}" srcOrd="0" destOrd="0" presId="urn:microsoft.com/office/officeart/2005/8/layout/process4"/>
    <dgm:cxn modelId="{BF4B842F-0863-4E4A-8B20-F5B35424E870}" type="presParOf" srcId="{6900367C-28A4-5A40-968E-2F5B3F52661A}" destId="{47E4EDD2-5167-2C43-A386-E39414C51A4C}" srcOrd="1" destOrd="0" presId="urn:microsoft.com/office/officeart/2005/8/layout/process4"/>
    <dgm:cxn modelId="{36F2FB14-9498-024A-BC13-46A9E6BD5A3E}" type="presParOf" srcId="{6900367C-28A4-5A40-968E-2F5B3F52661A}" destId="{1C6A69BE-A747-194C-B300-21F0277EBC01}" srcOrd="2" destOrd="0" presId="urn:microsoft.com/office/officeart/2005/8/layout/process4"/>
    <dgm:cxn modelId="{EDD25872-1BE9-DB42-B904-AB54ACD2FC7A}" type="presParOf" srcId="{1C6A69BE-A747-194C-B300-21F0277EBC01}" destId="{AC1B7E24-B340-2D4D-85E0-5A6B9D9F2A6F}" srcOrd="0" destOrd="0" presId="urn:microsoft.com/office/officeart/2005/8/layout/process4"/>
    <dgm:cxn modelId="{3C87D5B6-7C0E-9342-A83E-E56C105D4629}" type="presParOf" srcId="{6900367C-28A4-5A40-968E-2F5B3F52661A}" destId="{A9517603-5715-9547-882D-CB8E4A6AA15A}" srcOrd="3" destOrd="0" presId="urn:microsoft.com/office/officeart/2005/8/layout/process4"/>
    <dgm:cxn modelId="{3736C824-7E10-9042-8716-7F80B13DF28E}" type="presParOf" srcId="{6900367C-28A4-5A40-968E-2F5B3F52661A}" destId="{2E3548EF-A6CE-D344-928A-E20E3AEFF805}" srcOrd="4" destOrd="0" presId="urn:microsoft.com/office/officeart/2005/8/layout/process4"/>
    <dgm:cxn modelId="{EBD33449-E409-9948-92EE-1BB29E6BE5FB}" type="presParOf" srcId="{2E3548EF-A6CE-D344-928A-E20E3AEFF805}" destId="{DF992D4B-66BA-DA47-8894-42CC884D3DBB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895300-DF27-4520-AB44-5CDDD0176171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D43C3B8-4081-4F6E-9B8E-A1DCF3F266A0}">
      <dgm:prSet/>
      <dgm:spPr/>
      <dgm:t>
        <a:bodyPr/>
        <a:lstStyle/>
        <a:p>
          <a:r>
            <a:rPr lang="en-US" dirty="0"/>
            <a:t>1. Vulnerability Qualification </a:t>
          </a:r>
        </a:p>
      </dgm:t>
    </dgm:pt>
    <dgm:pt modelId="{5ADB39B4-62BD-4D9A-AE27-4FD73A14356B}" type="parTrans" cxnId="{45505A2D-5F88-4670-80B7-FCD3644C8253}">
      <dgm:prSet/>
      <dgm:spPr/>
      <dgm:t>
        <a:bodyPr/>
        <a:lstStyle/>
        <a:p>
          <a:endParaRPr lang="en-US"/>
        </a:p>
      </dgm:t>
    </dgm:pt>
    <dgm:pt modelId="{5EDECC52-F682-452B-B7F5-5FA558070630}" type="sibTrans" cxnId="{45505A2D-5F88-4670-80B7-FCD3644C8253}">
      <dgm:prSet/>
      <dgm:spPr/>
      <dgm:t>
        <a:bodyPr/>
        <a:lstStyle/>
        <a:p>
          <a:endParaRPr lang="en-US"/>
        </a:p>
      </dgm:t>
    </dgm:pt>
    <dgm:pt modelId="{2F7B5EB0-40C0-4587-99EB-DCDEA177BF08}">
      <dgm:prSet/>
      <dgm:spPr/>
      <dgm:t>
        <a:bodyPr/>
        <a:lstStyle/>
        <a:p>
          <a:r>
            <a:rPr lang="en-US" dirty="0"/>
            <a:t>2. Verify Severity</a:t>
          </a:r>
        </a:p>
      </dgm:t>
    </dgm:pt>
    <dgm:pt modelId="{A9D63529-E1B7-406F-AFE1-8AB67B0E82C2}" type="parTrans" cxnId="{E038CC9E-2870-4CC1-B5E0-43D0F0A8DB74}">
      <dgm:prSet/>
      <dgm:spPr/>
      <dgm:t>
        <a:bodyPr/>
        <a:lstStyle/>
        <a:p>
          <a:endParaRPr lang="en-US"/>
        </a:p>
      </dgm:t>
    </dgm:pt>
    <dgm:pt modelId="{6D4EDC20-F1A3-41DB-9A69-C9624DD97010}" type="sibTrans" cxnId="{E038CC9E-2870-4CC1-B5E0-43D0F0A8DB74}">
      <dgm:prSet/>
      <dgm:spPr/>
      <dgm:t>
        <a:bodyPr/>
        <a:lstStyle/>
        <a:p>
          <a:endParaRPr lang="en-US"/>
        </a:p>
      </dgm:t>
    </dgm:pt>
    <dgm:pt modelId="{15BA7D53-A478-4666-9256-BADF76292930}">
      <dgm:prSet/>
      <dgm:spPr/>
      <dgm:t>
        <a:bodyPr/>
        <a:lstStyle/>
        <a:p>
          <a:r>
            <a:rPr lang="en-US" dirty="0"/>
            <a:t>3. Advise Internal Stakeholders</a:t>
          </a:r>
        </a:p>
      </dgm:t>
    </dgm:pt>
    <dgm:pt modelId="{9538CA99-089A-4BE4-85D7-E8E8E4433DD4}" type="parTrans" cxnId="{D62D49B8-2209-46B9-A894-07D8B5AFBD7F}">
      <dgm:prSet/>
      <dgm:spPr/>
      <dgm:t>
        <a:bodyPr/>
        <a:lstStyle/>
        <a:p>
          <a:endParaRPr lang="en-US"/>
        </a:p>
      </dgm:t>
    </dgm:pt>
    <dgm:pt modelId="{D78A64F8-5983-4DE5-9CD6-FF0F9EB43111}" type="sibTrans" cxnId="{D62D49B8-2209-46B9-A894-07D8B5AFBD7F}">
      <dgm:prSet/>
      <dgm:spPr/>
      <dgm:t>
        <a:bodyPr/>
        <a:lstStyle/>
        <a:p>
          <a:endParaRPr lang="en-US"/>
        </a:p>
      </dgm:t>
    </dgm:pt>
    <dgm:pt modelId="{682AE3A0-497C-420A-B907-E893DA759BAA}">
      <dgm:prSet/>
      <dgm:spPr/>
      <dgm:t>
        <a:bodyPr/>
        <a:lstStyle/>
        <a:p>
          <a:r>
            <a:rPr lang="en-US" dirty="0"/>
            <a:t>4. Reproduce the vulnerability</a:t>
          </a:r>
        </a:p>
      </dgm:t>
    </dgm:pt>
    <dgm:pt modelId="{43D7A038-A6F5-4E8F-95C8-C493FE3E0075}" type="parTrans" cxnId="{91E54583-8C3E-4529-A6A7-4AD720C29A0D}">
      <dgm:prSet/>
      <dgm:spPr/>
      <dgm:t>
        <a:bodyPr/>
        <a:lstStyle/>
        <a:p>
          <a:endParaRPr lang="en-US"/>
        </a:p>
      </dgm:t>
    </dgm:pt>
    <dgm:pt modelId="{E60EB8EF-52AC-4790-A3BE-B95279E94571}" type="sibTrans" cxnId="{91E54583-8C3E-4529-A6A7-4AD720C29A0D}">
      <dgm:prSet/>
      <dgm:spPr/>
      <dgm:t>
        <a:bodyPr/>
        <a:lstStyle/>
        <a:p>
          <a:endParaRPr lang="en-US"/>
        </a:p>
      </dgm:t>
    </dgm:pt>
    <dgm:pt modelId="{C24E3F77-2939-4DDC-9461-D013C35C14AF}">
      <dgm:prSet/>
      <dgm:spPr/>
      <dgm:t>
        <a:bodyPr/>
        <a:lstStyle/>
        <a:p>
          <a:r>
            <a:rPr lang="en-US" dirty="0"/>
            <a:t>5. Remediate – Create a temporary workaround(s)*</a:t>
          </a:r>
        </a:p>
      </dgm:t>
    </dgm:pt>
    <dgm:pt modelId="{11BF3689-8A1B-4F90-868B-EBC0D8C2C7B2}" type="parTrans" cxnId="{0589C3AA-40CE-4900-9417-8B8C34E1D8A3}">
      <dgm:prSet/>
      <dgm:spPr/>
      <dgm:t>
        <a:bodyPr/>
        <a:lstStyle/>
        <a:p>
          <a:endParaRPr lang="en-US"/>
        </a:p>
      </dgm:t>
    </dgm:pt>
    <dgm:pt modelId="{953D9C0A-FE92-4F4A-BE9A-5221948C65A4}" type="sibTrans" cxnId="{0589C3AA-40CE-4900-9417-8B8C34E1D8A3}">
      <dgm:prSet/>
      <dgm:spPr/>
      <dgm:t>
        <a:bodyPr/>
        <a:lstStyle/>
        <a:p>
          <a:endParaRPr lang="en-US"/>
        </a:p>
      </dgm:t>
    </dgm:pt>
    <dgm:pt modelId="{511FDE0C-C615-4493-BF75-39E874DF7785}">
      <dgm:prSet/>
      <dgm:spPr/>
      <dgm:t>
        <a:bodyPr/>
        <a:lstStyle/>
        <a:p>
          <a:r>
            <a:rPr lang="en-US" dirty="0"/>
            <a:t>6. Disclosure </a:t>
          </a:r>
        </a:p>
      </dgm:t>
    </dgm:pt>
    <dgm:pt modelId="{BAE737C8-8369-4904-83C8-AE11BFA9C2DB}" type="parTrans" cxnId="{730FDBEB-2CA8-415C-B13C-5E0D2D9A5648}">
      <dgm:prSet/>
      <dgm:spPr/>
      <dgm:t>
        <a:bodyPr/>
        <a:lstStyle/>
        <a:p>
          <a:endParaRPr lang="en-US"/>
        </a:p>
      </dgm:t>
    </dgm:pt>
    <dgm:pt modelId="{5A5143CC-1348-467C-9D7C-A8F51AA0EBC6}" type="sibTrans" cxnId="{730FDBEB-2CA8-415C-B13C-5E0D2D9A5648}">
      <dgm:prSet/>
      <dgm:spPr/>
      <dgm:t>
        <a:bodyPr/>
        <a:lstStyle/>
        <a:p>
          <a:endParaRPr lang="en-US"/>
        </a:p>
      </dgm:t>
    </dgm:pt>
    <dgm:pt modelId="{9417DC47-D0B5-4B36-B078-12C6DCCCACA6}">
      <dgm:prSet/>
      <dgm:spPr/>
      <dgm:t>
        <a:bodyPr/>
        <a:lstStyle/>
        <a:p>
          <a:r>
            <a:rPr lang="en-US" dirty="0"/>
            <a:t>8. Post-Mortem</a:t>
          </a:r>
        </a:p>
      </dgm:t>
    </dgm:pt>
    <dgm:pt modelId="{9BC74F4A-A55C-485D-AAE1-802F42709DA3}" type="parTrans" cxnId="{5C100212-FA63-4C16-B73D-AD5441089FCA}">
      <dgm:prSet/>
      <dgm:spPr/>
      <dgm:t>
        <a:bodyPr/>
        <a:lstStyle/>
        <a:p>
          <a:endParaRPr lang="en-US"/>
        </a:p>
      </dgm:t>
    </dgm:pt>
    <dgm:pt modelId="{78AF4453-3DDE-4205-8EA7-92A406E468A1}" type="sibTrans" cxnId="{5C100212-FA63-4C16-B73D-AD5441089FCA}">
      <dgm:prSet/>
      <dgm:spPr/>
      <dgm:t>
        <a:bodyPr/>
        <a:lstStyle/>
        <a:p>
          <a:endParaRPr lang="en-US"/>
        </a:p>
      </dgm:t>
    </dgm:pt>
    <dgm:pt modelId="{0471764A-9259-3C4E-A001-8E9662E80F8C}">
      <dgm:prSet/>
      <dgm:spPr/>
      <dgm:t>
        <a:bodyPr/>
        <a:lstStyle/>
        <a:p>
          <a:r>
            <a:rPr lang="en-US" dirty="0"/>
            <a:t>7. Continue with Remediation</a:t>
          </a:r>
        </a:p>
      </dgm:t>
    </dgm:pt>
    <dgm:pt modelId="{D4CB8B7C-0E4C-7447-853F-42E958E1CDD1}" type="parTrans" cxnId="{9B098A83-9994-EB42-A8CD-803527798F2C}">
      <dgm:prSet/>
      <dgm:spPr/>
      <dgm:t>
        <a:bodyPr/>
        <a:lstStyle/>
        <a:p>
          <a:endParaRPr lang="en-US"/>
        </a:p>
      </dgm:t>
    </dgm:pt>
    <dgm:pt modelId="{F613A011-2FC6-F342-9598-5565A3826176}" type="sibTrans" cxnId="{9B098A83-9994-EB42-A8CD-803527798F2C}">
      <dgm:prSet/>
      <dgm:spPr/>
      <dgm:t>
        <a:bodyPr/>
        <a:lstStyle/>
        <a:p>
          <a:endParaRPr lang="en-US"/>
        </a:p>
      </dgm:t>
    </dgm:pt>
    <dgm:pt modelId="{1D647479-6801-3D4E-9D7F-71CAF3DD4E50}" type="pres">
      <dgm:prSet presAssocID="{8F895300-DF27-4520-AB44-5CDDD0176171}" presName="vert0" presStyleCnt="0">
        <dgm:presLayoutVars>
          <dgm:dir/>
          <dgm:animOne val="branch"/>
          <dgm:animLvl val="lvl"/>
        </dgm:presLayoutVars>
      </dgm:prSet>
      <dgm:spPr/>
    </dgm:pt>
    <dgm:pt modelId="{8EDA7A9D-0BD6-F549-9D67-E1ABD15D1FA6}" type="pres">
      <dgm:prSet presAssocID="{9D43C3B8-4081-4F6E-9B8E-A1DCF3F266A0}" presName="thickLine" presStyleLbl="alignNode1" presStyleIdx="0" presStyleCnt="8"/>
      <dgm:spPr/>
    </dgm:pt>
    <dgm:pt modelId="{CF8E78FD-9D03-FE47-9161-6EFA3C0E9B88}" type="pres">
      <dgm:prSet presAssocID="{9D43C3B8-4081-4F6E-9B8E-A1DCF3F266A0}" presName="horz1" presStyleCnt="0"/>
      <dgm:spPr/>
    </dgm:pt>
    <dgm:pt modelId="{C5A03B5A-6949-6244-B442-812575435CFC}" type="pres">
      <dgm:prSet presAssocID="{9D43C3B8-4081-4F6E-9B8E-A1DCF3F266A0}" presName="tx1" presStyleLbl="revTx" presStyleIdx="0" presStyleCnt="8"/>
      <dgm:spPr/>
    </dgm:pt>
    <dgm:pt modelId="{74E6AA14-8787-4440-B41F-1DCE9027849F}" type="pres">
      <dgm:prSet presAssocID="{9D43C3B8-4081-4F6E-9B8E-A1DCF3F266A0}" presName="vert1" presStyleCnt="0"/>
      <dgm:spPr/>
    </dgm:pt>
    <dgm:pt modelId="{B8A3253D-B99A-5146-B47D-1439F263851A}" type="pres">
      <dgm:prSet presAssocID="{2F7B5EB0-40C0-4587-99EB-DCDEA177BF08}" presName="thickLine" presStyleLbl="alignNode1" presStyleIdx="1" presStyleCnt="8"/>
      <dgm:spPr/>
    </dgm:pt>
    <dgm:pt modelId="{C06EC4E5-71C1-4F43-88FB-9107D11C1D38}" type="pres">
      <dgm:prSet presAssocID="{2F7B5EB0-40C0-4587-99EB-DCDEA177BF08}" presName="horz1" presStyleCnt="0"/>
      <dgm:spPr/>
    </dgm:pt>
    <dgm:pt modelId="{4FB57BC8-8F2F-7447-A91B-F4E459686DFD}" type="pres">
      <dgm:prSet presAssocID="{2F7B5EB0-40C0-4587-99EB-DCDEA177BF08}" presName="tx1" presStyleLbl="revTx" presStyleIdx="1" presStyleCnt="8"/>
      <dgm:spPr/>
    </dgm:pt>
    <dgm:pt modelId="{AC53525E-6ED5-0C42-8524-FC4A88DA5A11}" type="pres">
      <dgm:prSet presAssocID="{2F7B5EB0-40C0-4587-99EB-DCDEA177BF08}" presName="vert1" presStyleCnt="0"/>
      <dgm:spPr/>
    </dgm:pt>
    <dgm:pt modelId="{951874BD-10F2-5544-8F53-0509C8C77BF1}" type="pres">
      <dgm:prSet presAssocID="{15BA7D53-A478-4666-9256-BADF76292930}" presName="thickLine" presStyleLbl="alignNode1" presStyleIdx="2" presStyleCnt="8"/>
      <dgm:spPr/>
    </dgm:pt>
    <dgm:pt modelId="{2E5C8420-CC16-374D-9659-1F895C5A8BF2}" type="pres">
      <dgm:prSet presAssocID="{15BA7D53-A478-4666-9256-BADF76292930}" presName="horz1" presStyleCnt="0"/>
      <dgm:spPr/>
    </dgm:pt>
    <dgm:pt modelId="{C0689D38-826A-5F4A-82B5-B99A0CF6CEBD}" type="pres">
      <dgm:prSet presAssocID="{15BA7D53-A478-4666-9256-BADF76292930}" presName="tx1" presStyleLbl="revTx" presStyleIdx="2" presStyleCnt="8"/>
      <dgm:spPr/>
    </dgm:pt>
    <dgm:pt modelId="{777C866B-DE16-734B-99D2-FD353327621E}" type="pres">
      <dgm:prSet presAssocID="{15BA7D53-A478-4666-9256-BADF76292930}" presName="vert1" presStyleCnt="0"/>
      <dgm:spPr/>
    </dgm:pt>
    <dgm:pt modelId="{5FDA689D-CAB3-CB4C-8AC7-2DBC9C55D91D}" type="pres">
      <dgm:prSet presAssocID="{682AE3A0-497C-420A-B907-E893DA759BAA}" presName="thickLine" presStyleLbl="alignNode1" presStyleIdx="3" presStyleCnt="8"/>
      <dgm:spPr/>
    </dgm:pt>
    <dgm:pt modelId="{7AD75B6F-971C-994D-AC89-4FC2281AC25B}" type="pres">
      <dgm:prSet presAssocID="{682AE3A0-497C-420A-B907-E893DA759BAA}" presName="horz1" presStyleCnt="0"/>
      <dgm:spPr/>
    </dgm:pt>
    <dgm:pt modelId="{D6C9D026-7051-1F4E-A453-01A58D4056CF}" type="pres">
      <dgm:prSet presAssocID="{682AE3A0-497C-420A-B907-E893DA759BAA}" presName="tx1" presStyleLbl="revTx" presStyleIdx="3" presStyleCnt="8"/>
      <dgm:spPr/>
    </dgm:pt>
    <dgm:pt modelId="{11511A5D-D869-F740-999C-1814588D2B45}" type="pres">
      <dgm:prSet presAssocID="{682AE3A0-497C-420A-B907-E893DA759BAA}" presName="vert1" presStyleCnt="0"/>
      <dgm:spPr/>
    </dgm:pt>
    <dgm:pt modelId="{E7162730-3FE8-D346-8CEB-76C7D9E74D36}" type="pres">
      <dgm:prSet presAssocID="{C24E3F77-2939-4DDC-9461-D013C35C14AF}" presName="thickLine" presStyleLbl="alignNode1" presStyleIdx="4" presStyleCnt="8"/>
      <dgm:spPr/>
    </dgm:pt>
    <dgm:pt modelId="{62B58F00-28CB-AA47-B230-9D095E3AFF92}" type="pres">
      <dgm:prSet presAssocID="{C24E3F77-2939-4DDC-9461-D013C35C14AF}" presName="horz1" presStyleCnt="0"/>
      <dgm:spPr/>
    </dgm:pt>
    <dgm:pt modelId="{B37EE2DE-C4CC-514E-A730-9EB738968756}" type="pres">
      <dgm:prSet presAssocID="{C24E3F77-2939-4DDC-9461-D013C35C14AF}" presName="tx1" presStyleLbl="revTx" presStyleIdx="4" presStyleCnt="8"/>
      <dgm:spPr/>
    </dgm:pt>
    <dgm:pt modelId="{3ED0D83C-0E39-AE47-9FED-FDCC8A838FCA}" type="pres">
      <dgm:prSet presAssocID="{C24E3F77-2939-4DDC-9461-D013C35C14AF}" presName="vert1" presStyleCnt="0"/>
      <dgm:spPr/>
    </dgm:pt>
    <dgm:pt modelId="{2D3A2CF8-CB67-C64B-969A-6CDA0FC628BE}" type="pres">
      <dgm:prSet presAssocID="{511FDE0C-C615-4493-BF75-39E874DF7785}" presName="thickLine" presStyleLbl="alignNode1" presStyleIdx="5" presStyleCnt="8"/>
      <dgm:spPr/>
    </dgm:pt>
    <dgm:pt modelId="{478BA7AC-1BE9-9544-90A3-FCE6CAD3C8FA}" type="pres">
      <dgm:prSet presAssocID="{511FDE0C-C615-4493-BF75-39E874DF7785}" presName="horz1" presStyleCnt="0"/>
      <dgm:spPr/>
    </dgm:pt>
    <dgm:pt modelId="{137721E6-F043-0A43-A4D4-68F33FDEAE38}" type="pres">
      <dgm:prSet presAssocID="{511FDE0C-C615-4493-BF75-39E874DF7785}" presName="tx1" presStyleLbl="revTx" presStyleIdx="5" presStyleCnt="8"/>
      <dgm:spPr/>
    </dgm:pt>
    <dgm:pt modelId="{DF78D714-658E-5647-804D-53790BBA6B5C}" type="pres">
      <dgm:prSet presAssocID="{511FDE0C-C615-4493-BF75-39E874DF7785}" presName="vert1" presStyleCnt="0"/>
      <dgm:spPr/>
    </dgm:pt>
    <dgm:pt modelId="{2AE39D9B-40EE-9640-BFE9-F2D587022028}" type="pres">
      <dgm:prSet presAssocID="{0471764A-9259-3C4E-A001-8E9662E80F8C}" presName="thickLine" presStyleLbl="alignNode1" presStyleIdx="6" presStyleCnt="8"/>
      <dgm:spPr/>
    </dgm:pt>
    <dgm:pt modelId="{484357EA-AA9E-524F-AC5A-AF1534715EFC}" type="pres">
      <dgm:prSet presAssocID="{0471764A-9259-3C4E-A001-8E9662E80F8C}" presName="horz1" presStyleCnt="0"/>
      <dgm:spPr/>
    </dgm:pt>
    <dgm:pt modelId="{3D6C7912-2D1F-BB42-B8E8-F6730EF05687}" type="pres">
      <dgm:prSet presAssocID="{0471764A-9259-3C4E-A001-8E9662E80F8C}" presName="tx1" presStyleLbl="revTx" presStyleIdx="6" presStyleCnt="8"/>
      <dgm:spPr/>
    </dgm:pt>
    <dgm:pt modelId="{D529F9B2-ABCE-CB46-9600-B9031307CA99}" type="pres">
      <dgm:prSet presAssocID="{0471764A-9259-3C4E-A001-8E9662E80F8C}" presName="vert1" presStyleCnt="0"/>
      <dgm:spPr/>
    </dgm:pt>
    <dgm:pt modelId="{F7746DE3-AF40-1D4C-A8AD-5506CF925894}" type="pres">
      <dgm:prSet presAssocID="{9417DC47-D0B5-4B36-B078-12C6DCCCACA6}" presName="thickLine" presStyleLbl="alignNode1" presStyleIdx="7" presStyleCnt="8"/>
      <dgm:spPr/>
    </dgm:pt>
    <dgm:pt modelId="{B62AD7AA-053A-D446-9118-74520781178C}" type="pres">
      <dgm:prSet presAssocID="{9417DC47-D0B5-4B36-B078-12C6DCCCACA6}" presName="horz1" presStyleCnt="0"/>
      <dgm:spPr/>
    </dgm:pt>
    <dgm:pt modelId="{3F2783AC-311E-F947-B84E-9C1DC9CA5C52}" type="pres">
      <dgm:prSet presAssocID="{9417DC47-D0B5-4B36-B078-12C6DCCCACA6}" presName="tx1" presStyleLbl="revTx" presStyleIdx="7" presStyleCnt="8"/>
      <dgm:spPr/>
    </dgm:pt>
    <dgm:pt modelId="{69E4BC4B-6094-FD46-9D65-AB0D3C0D9CD4}" type="pres">
      <dgm:prSet presAssocID="{9417DC47-D0B5-4B36-B078-12C6DCCCACA6}" presName="vert1" presStyleCnt="0"/>
      <dgm:spPr/>
    </dgm:pt>
  </dgm:ptLst>
  <dgm:cxnLst>
    <dgm:cxn modelId="{5C100212-FA63-4C16-B73D-AD5441089FCA}" srcId="{8F895300-DF27-4520-AB44-5CDDD0176171}" destId="{9417DC47-D0B5-4B36-B078-12C6DCCCACA6}" srcOrd="7" destOrd="0" parTransId="{9BC74F4A-A55C-485D-AAE1-802F42709DA3}" sibTransId="{78AF4453-3DDE-4205-8EA7-92A406E468A1}"/>
    <dgm:cxn modelId="{45505A2D-5F88-4670-80B7-FCD3644C8253}" srcId="{8F895300-DF27-4520-AB44-5CDDD0176171}" destId="{9D43C3B8-4081-4F6E-9B8E-A1DCF3F266A0}" srcOrd="0" destOrd="0" parTransId="{5ADB39B4-62BD-4D9A-AE27-4FD73A14356B}" sibTransId="{5EDECC52-F682-452B-B7F5-5FA558070630}"/>
    <dgm:cxn modelId="{91E54583-8C3E-4529-A6A7-4AD720C29A0D}" srcId="{8F895300-DF27-4520-AB44-5CDDD0176171}" destId="{682AE3A0-497C-420A-B907-E893DA759BAA}" srcOrd="3" destOrd="0" parTransId="{43D7A038-A6F5-4E8F-95C8-C493FE3E0075}" sibTransId="{E60EB8EF-52AC-4790-A3BE-B95279E94571}"/>
    <dgm:cxn modelId="{9B098A83-9994-EB42-A8CD-803527798F2C}" srcId="{8F895300-DF27-4520-AB44-5CDDD0176171}" destId="{0471764A-9259-3C4E-A001-8E9662E80F8C}" srcOrd="6" destOrd="0" parTransId="{D4CB8B7C-0E4C-7447-853F-42E958E1CDD1}" sibTransId="{F613A011-2FC6-F342-9598-5565A3826176}"/>
    <dgm:cxn modelId="{A2026692-2BB6-214D-BBA4-CC90A9A72A99}" type="presOf" srcId="{C24E3F77-2939-4DDC-9461-D013C35C14AF}" destId="{B37EE2DE-C4CC-514E-A730-9EB738968756}" srcOrd="0" destOrd="0" presId="urn:microsoft.com/office/officeart/2008/layout/LinedList"/>
    <dgm:cxn modelId="{E038CC9E-2870-4CC1-B5E0-43D0F0A8DB74}" srcId="{8F895300-DF27-4520-AB44-5CDDD0176171}" destId="{2F7B5EB0-40C0-4587-99EB-DCDEA177BF08}" srcOrd="1" destOrd="0" parTransId="{A9D63529-E1B7-406F-AFE1-8AB67B0E82C2}" sibTransId="{6D4EDC20-F1A3-41DB-9A69-C9624DD97010}"/>
    <dgm:cxn modelId="{3DBACAA3-9F1F-B549-A147-82F79FEE1022}" type="presOf" srcId="{682AE3A0-497C-420A-B907-E893DA759BAA}" destId="{D6C9D026-7051-1F4E-A453-01A58D4056CF}" srcOrd="0" destOrd="0" presId="urn:microsoft.com/office/officeart/2008/layout/LinedList"/>
    <dgm:cxn modelId="{FC02D4A5-C7C2-2248-93E9-6D54B7497568}" type="presOf" srcId="{511FDE0C-C615-4493-BF75-39E874DF7785}" destId="{137721E6-F043-0A43-A4D4-68F33FDEAE38}" srcOrd="0" destOrd="0" presId="urn:microsoft.com/office/officeart/2008/layout/LinedList"/>
    <dgm:cxn modelId="{0589C3AA-40CE-4900-9417-8B8C34E1D8A3}" srcId="{8F895300-DF27-4520-AB44-5CDDD0176171}" destId="{C24E3F77-2939-4DDC-9461-D013C35C14AF}" srcOrd="4" destOrd="0" parTransId="{11BF3689-8A1B-4F90-868B-EBC0D8C2C7B2}" sibTransId="{953D9C0A-FE92-4F4A-BE9A-5221948C65A4}"/>
    <dgm:cxn modelId="{87F613B8-B403-994A-B1A7-56F6FEFE30DF}" type="presOf" srcId="{9D43C3B8-4081-4F6E-9B8E-A1DCF3F266A0}" destId="{C5A03B5A-6949-6244-B442-812575435CFC}" srcOrd="0" destOrd="0" presId="urn:microsoft.com/office/officeart/2008/layout/LinedList"/>
    <dgm:cxn modelId="{D62D49B8-2209-46B9-A894-07D8B5AFBD7F}" srcId="{8F895300-DF27-4520-AB44-5CDDD0176171}" destId="{15BA7D53-A478-4666-9256-BADF76292930}" srcOrd="2" destOrd="0" parTransId="{9538CA99-089A-4BE4-85D7-E8E8E4433DD4}" sibTransId="{D78A64F8-5983-4DE5-9CD6-FF0F9EB43111}"/>
    <dgm:cxn modelId="{B46C5CC8-E12D-E147-83F4-F4BF9AF1F762}" type="presOf" srcId="{9417DC47-D0B5-4B36-B078-12C6DCCCACA6}" destId="{3F2783AC-311E-F947-B84E-9C1DC9CA5C52}" srcOrd="0" destOrd="0" presId="urn:microsoft.com/office/officeart/2008/layout/LinedList"/>
    <dgm:cxn modelId="{CCFB58D1-5926-9440-8370-F14A3A92F7A0}" type="presOf" srcId="{8F895300-DF27-4520-AB44-5CDDD0176171}" destId="{1D647479-6801-3D4E-9D7F-71CAF3DD4E50}" srcOrd="0" destOrd="0" presId="urn:microsoft.com/office/officeart/2008/layout/LinedList"/>
    <dgm:cxn modelId="{10D9B4DC-D35C-D442-A899-5CB55BA1712F}" type="presOf" srcId="{15BA7D53-A478-4666-9256-BADF76292930}" destId="{C0689D38-826A-5F4A-82B5-B99A0CF6CEBD}" srcOrd="0" destOrd="0" presId="urn:microsoft.com/office/officeart/2008/layout/LinedList"/>
    <dgm:cxn modelId="{D2B467E7-7EE0-7243-8D08-709F179E4368}" type="presOf" srcId="{0471764A-9259-3C4E-A001-8E9662E80F8C}" destId="{3D6C7912-2D1F-BB42-B8E8-F6730EF05687}" srcOrd="0" destOrd="0" presId="urn:microsoft.com/office/officeart/2008/layout/LinedList"/>
    <dgm:cxn modelId="{730FDBEB-2CA8-415C-B13C-5E0D2D9A5648}" srcId="{8F895300-DF27-4520-AB44-5CDDD0176171}" destId="{511FDE0C-C615-4493-BF75-39E874DF7785}" srcOrd="5" destOrd="0" parTransId="{BAE737C8-8369-4904-83C8-AE11BFA9C2DB}" sibTransId="{5A5143CC-1348-467C-9D7C-A8F51AA0EBC6}"/>
    <dgm:cxn modelId="{042888F1-AF5B-2D47-957E-A4A57C184F35}" type="presOf" srcId="{2F7B5EB0-40C0-4587-99EB-DCDEA177BF08}" destId="{4FB57BC8-8F2F-7447-A91B-F4E459686DFD}" srcOrd="0" destOrd="0" presId="urn:microsoft.com/office/officeart/2008/layout/LinedList"/>
    <dgm:cxn modelId="{6AAD4FD1-8A7F-EC4E-849D-C4B3F7BBA77E}" type="presParOf" srcId="{1D647479-6801-3D4E-9D7F-71CAF3DD4E50}" destId="{8EDA7A9D-0BD6-F549-9D67-E1ABD15D1FA6}" srcOrd="0" destOrd="0" presId="urn:microsoft.com/office/officeart/2008/layout/LinedList"/>
    <dgm:cxn modelId="{316BD6FD-9011-8D4A-9305-3A89BA04B13E}" type="presParOf" srcId="{1D647479-6801-3D4E-9D7F-71CAF3DD4E50}" destId="{CF8E78FD-9D03-FE47-9161-6EFA3C0E9B88}" srcOrd="1" destOrd="0" presId="urn:microsoft.com/office/officeart/2008/layout/LinedList"/>
    <dgm:cxn modelId="{0D9D1CBD-2AA5-B647-9D37-342F740B540F}" type="presParOf" srcId="{CF8E78FD-9D03-FE47-9161-6EFA3C0E9B88}" destId="{C5A03B5A-6949-6244-B442-812575435CFC}" srcOrd="0" destOrd="0" presId="urn:microsoft.com/office/officeart/2008/layout/LinedList"/>
    <dgm:cxn modelId="{FA3E1793-82AD-FC42-A132-7601F2D8B29C}" type="presParOf" srcId="{CF8E78FD-9D03-FE47-9161-6EFA3C0E9B88}" destId="{74E6AA14-8787-4440-B41F-1DCE9027849F}" srcOrd="1" destOrd="0" presId="urn:microsoft.com/office/officeart/2008/layout/LinedList"/>
    <dgm:cxn modelId="{FAE6A445-485C-BC42-B527-182715F8EB87}" type="presParOf" srcId="{1D647479-6801-3D4E-9D7F-71CAF3DD4E50}" destId="{B8A3253D-B99A-5146-B47D-1439F263851A}" srcOrd="2" destOrd="0" presId="urn:microsoft.com/office/officeart/2008/layout/LinedList"/>
    <dgm:cxn modelId="{4899413A-3F34-2543-B523-8E1240739BF6}" type="presParOf" srcId="{1D647479-6801-3D4E-9D7F-71CAF3DD4E50}" destId="{C06EC4E5-71C1-4F43-88FB-9107D11C1D38}" srcOrd="3" destOrd="0" presId="urn:microsoft.com/office/officeart/2008/layout/LinedList"/>
    <dgm:cxn modelId="{8D739AAE-7201-714E-AB68-DB5798445ACF}" type="presParOf" srcId="{C06EC4E5-71C1-4F43-88FB-9107D11C1D38}" destId="{4FB57BC8-8F2F-7447-A91B-F4E459686DFD}" srcOrd="0" destOrd="0" presId="urn:microsoft.com/office/officeart/2008/layout/LinedList"/>
    <dgm:cxn modelId="{83ED6B4F-C4D1-F24C-81A4-701C9BCBBD46}" type="presParOf" srcId="{C06EC4E5-71C1-4F43-88FB-9107D11C1D38}" destId="{AC53525E-6ED5-0C42-8524-FC4A88DA5A11}" srcOrd="1" destOrd="0" presId="urn:microsoft.com/office/officeart/2008/layout/LinedList"/>
    <dgm:cxn modelId="{8B4EB461-4902-9948-99C5-829D0E5D74A0}" type="presParOf" srcId="{1D647479-6801-3D4E-9D7F-71CAF3DD4E50}" destId="{951874BD-10F2-5544-8F53-0509C8C77BF1}" srcOrd="4" destOrd="0" presId="urn:microsoft.com/office/officeart/2008/layout/LinedList"/>
    <dgm:cxn modelId="{045FFEAB-55BF-C84E-A9A4-944981CC8AD9}" type="presParOf" srcId="{1D647479-6801-3D4E-9D7F-71CAF3DD4E50}" destId="{2E5C8420-CC16-374D-9659-1F895C5A8BF2}" srcOrd="5" destOrd="0" presId="urn:microsoft.com/office/officeart/2008/layout/LinedList"/>
    <dgm:cxn modelId="{41198B22-6EF8-454D-9FF8-949F81A5D396}" type="presParOf" srcId="{2E5C8420-CC16-374D-9659-1F895C5A8BF2}" destId="{C0689D38-826A-5F4A-82B5-B99A0CF6CEBD}" srcOrd="0" destOrd="0" presId="urn:microsoft.com/office/officeart/2008/layout/LinedList"/>
    <dgm:cxn modelId="{F4473C9F-FE92-0442-85E9-DC031750DC83}" type="presParOf" srcId="{2E5C8420-CC16-374D-9659-1F895C5A8BF2}" destId="{777C866B-DE16-734B-99D2-FD353327621E}" srcOrd="1" destOrd="0" presId="urn:microsoft.com/office/officeart/2008/layout/LinedList"/>
    <dgm:cxn modelId="{A354558E-711B-B147-BDBA-836D35805223}" type="presParOf" srcId="{1D647479-6801-3D4E-9D7F-71CAF3DD4E50}" destId="{5FDA689D-CAB3-CB4C-8AC7-2DBC9C55D91D}" srcOrd="6" destOrd="0" presId="urn:microsoft.com/office/officeart/2008/layout/LinedList"/>
    <dgm:cxn modelId="{85251C03-61D0-0047-BE9B-CCEB18B9A32D}" type="presParOf" srcId="{1D647479-6801-3D4E-9D7F-71CAF3DD4E50}" destId="{7AD75B6F-971C-994D-AC89-4FC2281AC25B}" srcOrd="7" destOrd="0" presId="urn:microsoft.com/office/officeart/2008/layout/LinedList"/>
    <dgm:cxn modelId="{DF0E0430-717A-FB45-8FA0-7FB061348420}" type="presParOf" srcId="{7AD75B6F-971C-994D-AC89-4FC2281AC25B}" destId="{D6C9D026-7051-1F4E-A453-01A58D4056CF}" srcOrd="0" destOrd="0" presId="urn:microsoft.com/office/officeart/2008/layout/LinedList"/>
    <dgm:cxn modelId="{9D349644-CCAB-2E4B-B2A3-A133489F7F63}" type="presParOf" srcId="{7AD75B6F-971C-994D-AC89-4FC2281AC25B}" destId="{11511A5D-D869-F740-999C-1814588D2B45}" srcOrd="1" destOrd="0" presId="urn:microsoft.com/office/officeart/2008/layout/LinedList"/>
    <dgm:cxn modelId="{EBA74907-0304-9A47-B0AD-44EAD7B30518}" type="presParOf" srcId="{1D647479-6801-3D4E-9D7F-71CAF3DD4E50}" destId="{E7162730-3FE8-D346-8CEB-76C7D9E74D36}" srcOrd="8" destOrd="0" presId="urn:microsoft.com/office/officeart/2008/layout/LinedList"/>
    <dgm:cxn modelId="{32FE5748-91D5-564F-8B86-BB4BCE5BE0EA}" type="presParOf" srcId="{1D647479-6801-3D4E-9D7F-71CAF3DD4E50}" destId="{62B58F00-28CB-AA47-B230-9D095E3AFF92}" srcOrd="9" destOrd="0" presId="urn:microsoft.com/office/officeart/2008/layout/LinedList"/>
    <dgm:cxn modelId="{7D688209-4F4F-A041-BDBE-7AA85302A6CD}" type="presParOf" srcId="{62B58F00-28CB-AA47-B230-9D095E3AFF92}" destId="{B37EE2DE-C4CC-514E-A730-9EB738968756}" srcOrd="0" destOrd="0" presId="urn:microsoft.com/office/officeart/2008/layout/LinedList"/>
    <dgm:cxn modelId="{48666841-D401-E842-8148-0147A216FEFA}" type="presParOf" srcId="{62B58F00-28CB-AA47-B230-9D095E3AFF92}" destId="{3ED0D83C-0E39-AE47-9FED-FDCC8A838FCA}" srcOrd="1" destOrd="0" presId="urn:microsoft.com/office/officeart/2008/layout/LinedList"/>
    <dgm:cxn modelId="{B151ED87-2263-2F41-9507-7E393DBB256D}" type="presParOf" srcId="{1D647479-6801-3D4E-9D7F-71CAF3DD4E50}" destId="{2D3A2CF8-CB67-C64B-969A-6CDA0FC628BE}" srcOrd="10" destOrd="0" presId="urn:microsoft.com/office/officeart/2008/layout/LinedList"/>
    <dgm:cxn modelId="{32E3CB88-B5AF-4247-A644-B14841FF8D53}" type="presParOf" srcId="{1D647479-6801-3D4E-9D7F-71CAF3DD4E50}" destId="{478BA7AC-1BE9-9544-90A3-FCE6CAD3C8FA}" srcOrd="11" destOrd="0" presId="urn:microsoft.com/office/officeart/2008/layout/LinedList"/>
    <dgm:cxn modelId="{381E66B6-71A7-744D-A7A3-982DACE36C1D}" type="presParOf" srcId="{478BA7AC-1BE9-9544-90A3-FCE6CAD3C8FA}" destId="{137721E6-F043-0A43-A4D4-68F33FDEAE38}" srcOrd="0" destOrd="0" presId="urn:microsoft.com/office/officeart/2008/layout/LinedList"/>
    <dgm:cxn modelId="{BC891B9C-E923-8942-B304-54F4859FC40D}" type="presParOf" srcId="{478BA7AC-1BE9-9544-90A3-FCE6CAD3C8FA}" destId="{DF78D714-658E-5647-804D-53790BBA6B5C}" srcOrd="1" destOrd="0" presId="urn:microsoft.com/office/officeart/2008/layout/LinedList"/>
    <dgm:cxn modelId="{E2076ABB-FADE-F242-982C-B70825169811}" type="presParOf" srcId="{1D647479-6801-3D4E-9D7F-71CAF3DD4E50}" destId="{2AE39D9B-40EE-9640-BFE9-F2D587022028}" srcOrd="12" destOrd="0" presId="urn:microsoft.com/office/officeart/2008/layout/LinedList"/>
    <dgm:cxn modelId="{A2789C9F-AA51-3C4B-AB95-EDA7B3A9163F}" type="presParOf" srcId="{1D647479-6801-3D4E-9D7F-71CAF3DD4E50}" destId="{484357EA-AA9E-524F-AC5A-AF1534715EFC}" srcOrd="13" destOrd="0" presId="urn:microsoft.com/office/officeart/2008/layout/LinedList"/>
    <dgm:cxn modelId="{475F983C-32AD-F74E-9DFA-FF0032956091}" type="presParOf" srcId="{484357EA-AA9E-524F-AC5A-AF1534715EFC}" destId="{3D6C7912-2D1F-BB42-B8E8-F6730EF05687}" srcOrd="0" destOrd="0" presId="urn:microsoft.com/office/officeart/2008/layout/LinedList"/>
    <dgm:cxn modelId="{D39189E1-47E4-2042-AD87-D0F96AFA3016}" type="presParOf" srcId="{484357EA-AA9E-524F-AC5A-AF1534715EFC}" destId="{D529F9B2-ABCE-CB46-9600-B9031307CA99}" srcOrd="1" destOrd="0" presId="urn:microsoft.com/office/officeart/2008/layout/LinedList"/>
    <dgm:cxn modelId="{518E1620-306F-044B-84A4-A6E29B3C7EA7}" type="presParOf" srcId="{1D647479-6801-3D4E-9D7F-71CAF3DD4E50}" destId="{F7746DE3-AF40-1D4C-A8AD-5506CF925894}" srcOrd="14" destOrd="0" presId="urn:microsoft.com/office/officeart/2008/layout/LinedList"/>
    <dgm:cxn modelId="{D4081ACD-F714-7948-B968-EBC63E16567D}" type="presParOf" srcId="{1D647479-6801-3D4E-9D7F-71CAF3DD4E50}" destId="{B62AD7AA-053A-D446-9118-74520781178C}" srcOrd="15" destOrd="0" presId="urn:microsoft.com/office/officeart/2008/layout/LinedList"/>
    <dgm:cxn modelId="{162EAE68-1EDA-1D48-8628-D7841860EAE8}" type="presParOf" srcId="{B62AD7AA-053A-D446-9118-74520781178C}" destId="{3F2783AC-311E-F947-B84E-9C1DC9CA5C52}" srcOrd="0" destOrd="0" presId="urn:microsoft.com/office/officeart/2008/layout/LinedList"/>
    <dgm:cxn modelId="{1DDAD7B0-A1DE-404B-9ACA-F7241067ED4C}" type="presParOf" srcId="{B62AD7AA-053A-D446-9118-74520781178C}" destId="{69E4BC4B-6094-FD46-9D65-AB0D3C0D9CD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E115564-84A2-438B-8607-2C0E14FE650D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1846C42-76F6-4619-8134-5045F407791A}">
      <dgm:prSet/>
      <dgm:spPr/>
      <dgm:t>
        <a:bodyPr/>
        <a:lstStyle/>
        <a:p>
          <a:r>
            <a:rPr lang="en-US"/>
            <a:t>Who:</a:t>
          </a:r>
        </a:p>
      </dgm:t>
    </dgm:pt>
    <dgm:pt modelId="{65749E94-66D5-422D-8764-3F3869D67D30}" type="parTrans" cxnId="{4157FD4C-9257-4B55-9F35-34E4FB443DEC}">
      <dgm:prSet/>
      <dgm:spPr/>
      <dgm:t>
        <a:bodyPr/>
        <a:lstStyle/>
        <a:p>
          <a:endParaRPr lang="en-US"/>
        </a:p>
      </dgm:t>
    </dgm:pt>
    <dgm:pt modelId="{BD884409-ACDC-4B24-8346-4AC1B921847F}" type="sibTrans" cxnId="{4157FD4C-9257-4B55-9F35-34E4FB443DEC}">
      <dgm:prSet/>
      <dgm:spPr/>
      <dgm:t>
        <a:bodyPr/>
        <a:lstStyle/>
        <a:p>
          <a:endParaRPr lang="en-US"/>
        </a:p>
      </dgm:t>
    </dgm:pt>
    <dgm:pt modelId="{732F1BF8-3D63-42A8-8EC3-74DE19279AAB}">
      <dgm:prSet/>
      <dgm:spPr/>
      <dgm:t>
        <a:bodyPr/>
        <a:lstStyle/>
        <a:p>
          <a:r>
            <a:rPr lang="en-US" dirty="0"/>
            <a:t>Executives</a:t>
          </a:r>
        </a:p>
      </dgm:t>
    </dgm:pt>
    <dgm:pt modelId="{C8281DB3-C82B-4B99-AF41-BA9B76D7C219}" type="parTrans" cxnId="{DD9BCB71-5267-4FF5-8876-3707A4ACA58D}">
      <dgm:prSet/>
      <dgm:spPr/>
      <dgm:t>
        <a:bodyPr/>
        <a:lstStyle/>
        <a:p>
          <a:endParaRPr lang="en-US"/>
        </a:p>
      </dgm:t>
    </dgm:pt>
    <dgm:pt modelId="{5536C7D9-2D1A-45D2-B09C-398B69B5C39C}" type="sibTrans" cxnId="{DD9BCB71-5267-4FF5-8876-3707A4ACA58D}">
      <dgm:prSet/>
      <dgm:spPr/>
      <dgm:t>
        <a:bodyPr/>
        <a:lstStyle/>
        <a:p>
          <a:endParaRPr lang="en-US"/>
        </a:p>
      </dgm:t>
    </dgm:pt>
    <dgm:pt modelId="{A7097DA1-1A14-4A92-B0AB-8B7BA98224B4}">
      <dgm:prSet/>
      <dgm:spPr/>
      <dgm:t>
        <a:bodyPr/>
        <a:lstStyle/>
        <a:p>
          <a:r>
            <a:rPr lang="en-US" dirty="0"/>
            <a:t>Engineering</a:t>
          </a:r>
        </a:p>
      </dgm:t>
    </dgm:pt>
    <dgm:pt modelId="{F5C49C03-77E5-4663-AA08-179AF3153964}" type="parTrans" cxnId="{3580EB2D-8888-4047-B866-865934D2140E}">
      <dgm:prSet/>
      <dgm:spPr/>
      <dgm:t>
        <a:bodyPr/>
        <a:lstStyle/>
        <a:p>
          <a:endParaRPr lang="en-US"/>
        </a:p>
      </dgm:t>
    </dgm:pt>
    <dgm:pt modelId="{712039B7-DF66-4369-9963-EAEB23EAFB30}" type="sibTrans" cxnId="{3580EB2D-8888-4047-B866-865934D2140E}">
      <dgm:prSet/>
      <dgm:spPr/>
      <dgm:t>
        <a:bodyPr/>
        <a:lstStyle/>
        <a:p>
          <a:endParaRPr lang="en-US"/>
        </a:p>
      </dgm:t>
    </dgm:pt>
    <dgm:pt modelId="{6EAA6447-8781-411D-8758-97F82B29C1AF}">
      <dgm:prSet/>
      <dgm:spPr/>
      <dgm:t>
        <a:bodyPr/>
        <a:lstStyle/>
        <a:p>
          <a:r>
            <a:rPr lang="en-US"/>
            <a:t>R&amp;D – communication should be ongoing</a:t>
          </a:r>
        </a:p>
      </dgm:t>
    </dgm:pt>
    <dgm:pt modelId="{B054DD0A-5A8B-4D8D-9ED6-0A5D7ED9B770}" type="parTrans" cxnId="{A64A25D1-DE86-4FB8-86EF-8C5897C33049}">
      <dgm:prSet/>
      <dgm:spPr/>
      <dgm:t>
        <a:bodyPr/>
        <a:lstStyle/>
        <a:p>
          <a:endParaRPr lang="en-US"/>
        </a:p>
      </dgm:t>
    </dgm:pt>
    <dgm:pt modelId="{E06F7848-3661-40E5-B16A-AD987A696C39}" type="sibTrans" cxnId="{A64A25D1-DE86-4FB8-86EF-8C5897C33049}">
      <dgm:prSet/>
      <dgm:spPr/>
      <dgm:t>
        <a:bodyPr/>
        <a:lstStyle/>
        <a:p>
          <a:endParaRPr lang="en-US"/>
        </a:p>
      </dgm:t>
    </dgm:pt>
    <dgm:pt modelId="{9440D6FF-62BD-4C34-AB59-69948913DC04}">
      <dgm:prSet/>
      <dgm:spPr/>
      <dgm:t>
        <a:bodyPr/>
        <a:lstStyle/>
        <a:p>
          <a:r>
            <a:rPr lang="en-US"/>
            <a:t>About:</a:t>
          </a:r>
        </a:p>
      </dgm:t>
    </dgm:pt>
    <dgm:pt modelId="{1AAE5F2D-7C5D-4228-9327-F996357FE814}" type="parTrans" cxnId="{227D7E90-E05F-4451-B313-532325A516FF}">
      <dgm:prSet/>
      <dgm:spPr/>
      <dgm:t>
        <a:bodyPr/>
        <a:lstStyle/>
        <a:p>
          <a:endParaRPr lang="en-US"/>
        </a:p>
      </dgm:t>
    </dgm:pt>
    <dgm:pt modelId="{A4942175-7F72-46B2-BDDE-9BBB02254DCC}" type="sibTrans" cxnId="{227D7E90-E05F-4451-B313-532325A516FF}">
      <dgm:prSet/>
      <dgm:spPr/>
      <dgm:t>
        <a:bodyPr/>
        <a:lstStyle/>
        <a:p>
          <a:endParaRPr lang="en-US"/>
        </a:p>
      </dgm:t>
    </dgm:pt>
    <dgm:pt modelId="{CEED52DC-B5E2-42D9-BD59-5E1C4DEC929A}">
      <dgm:prSet/>
      <dgm:spPr/>
      <dgm:t>
        <a:bodyPr/>
        <a:lstStyle/>
        <a:p>
          <a:r>
            <a:rPr lang="en-US"/>
            <a:t>Situation</a:t>
          </a:r>
        </a:p>
      </dgm:t>
    </dgm:pt>
    <dgm:pt modelId="{16FC0DAE-61E5-4BFB-86DB-3CE8BDC81260}" type="parTrans" cxnId="{C13C6087-5E54-4AA0-85BB-DD53EE815175}">
      <dgm:prSet/>
      <dgm:spPr/>
      <dgm:t>
        <a:bodyPr/>
        <a:lstStyle/>
        <a:p>
          <a:endParaRPr lang="en-US"/>
        </a:p>
      </dgm:t>
    </dgm:pt>
    <dgm:pt modelId="{8042B27D-195A-4358-92E9-28FA50D1C0E5}" type="sibTrans" cxnId="{C13C6087-5E54-4AA0-85BB-DD53EE815175}">
      <dgm:prSet/>
      <dgm:spPr/>
      <dgm:t>
        <a:bodyPr/>
        <a:lstStyle/>
        <a:p>
          <a:endParaRPr lang="en-US"/>
        </a:p>
      </dgm:t>
    </dgm:pt>
    <dgm:pt modelId="{A3A4BBBB-52E2-4E48-A049-540F44DC4C8D}">
      <dgm:prSet/>
      <dgm:spPr/>
      <dgm:t>
        <a:bodyPr/>
        <a:lstStyle/>
        <a:p>
          <a:r>
            <a:rPr lang="en-US"/>
            <a:t>Actions taken </a:t>
          </a:r>
        </a:p>
      </dgm:t>
    </dgm:pt>
    <dgm:pt modelId="{9964E035-702D-4FCA-9F96-014613C73E1E}" type="parTrans" cxnId="{1C47D681-DED0-4F5F-A8BE-88FD234328F4}">
      <dgm:prSet/>
      <dgm:spPr/>
      <dgm:t>
        <a:bodyPr/>
        <a:lstStyle/>
        <a:p>
          <a:endParaRPr lang="en-US"/>
        </a:p>
      </dgm:t>
    </dgm:pt>
    <dgm:pt modelId="{DD01953E-AEF1-4207-91ED-5F4C434CAB0B}" type="sibTrans" cxnId="{1C47D681-DED0-4F5F-A8BE-88FD234328F4}">
      <dgm:prSet/>
      <dgm:spPr/>
      <dgm:t>
        <a:bodyPr/>
        <a:lstStyle/>
        <a:p>
          <a:endParaRPr lang="en-US"/>
        </a:p>
      </dgm:t>
    </dgm:pt>
    <dgm:pt modelId="{850DEC77-F649-4350-881B-18ED37C6690B}">
      <dgm:prSet/>
      <dgm:spPr/>
      <dgm:t>
        <a:bodyPr/>
        <a:lstStyle/>
        <a:p>
          <a:r>
            <a:rPr lang="en-US"/>
            <a:t>Future course of action</a:t>
          </a:r>
        </a:p>
      </dgm:t>
    </dgm:pt>
    <dgm:pt modelId="{ED291497-0326-49FA-8895-87A885DC6E26}" type="parTrans" cxnId="{0D6A2139-88F8-4A9E-BB52-C02FC861551B}">
      <dgm:prSet/>
      <dgm:spPr/>
      <dgm:t>
        <a:bodyPr/>
        <a:lstStyle/>
        <a:p>
          <a:endParaRPr lang="en-US"/>
        </a:p>
      </dgm:t>
    </dgm:pt>
    <dgm:pt modelId="{C54E601E-0138-4158-B448-68106FC6BBDA}" type="sibTrans" cxnId="{0D6A2139-88F8-4A9E-BB52-C02FC861551B}">
      <dgm:prSet/>
      <dgm:spPr/>
      <dgm:t>
        <a:bodyPr/>
        <a:lstStyle/>
        <a:p>
          <a:endParaRPr lang="en-US"/>
        </a:p>
      </dgm:t>
    </dgm:pt>
    <dgm:pt modelId="{AF7B1D66-B68E-3745-9190-2C5BBA8C4644}" type="pres">
      <dgm:prSet presAssocID="{3E115564-84A2-438B-8607-2C0E14FE650D}" presName="linear" presStyleCnt="0">
        <dgm:presLayoutVars>
          <dgm:dir/>
          <dgm:animLvl val="lvl"/>
          <dgm:resizeHandles val="exact"/>
        </dgm:presLayoutVars>
      </dgm:prSet>
      <dgm:spPr/>
    </dgm:pt>
    <dgm:pt modelId="{8AFC95D7-D211-2341-B0F2-CE1F679DD510}" type="pres">
      <dgm:prSet presAssocID="{A1846C42-76F6-4619-8134-5045F407791A}" presName="parentLin" presStyleCnt="0"/>
      <dgm:spPr/>
    </dgm:pt>
    <dgm:pt modelId="{BCA4C801-BC5E-2D4A-B1E3-BBACA75AA1E5}" type="pres">
      <dgm:prSet presAssocID="{A1846C42-76F6-4619-8134-5045F407791A}" presName="parentLeftMargin" presStyleLbl="node1" presStyleIdx="0" presStyleCnt="2"/>
      <dgm:spPr/>
    </dgm:pt>
    <dgm:pt modelId="{F6A58A78-50E7-3A43-85FB-61E5498AF8A2}" type="pres">
      <dgm:prSet presAssocID="{A1846C42-76F6-4619-8134-5045F407791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EF32C53-D5F9-9F46-ADCF-0652E3515C45}" type="pres">
      <dgm:prSet presAssocID="{A1846C42-76F6-4619-8134-5045F407791A}" presName="negativeSpace" presStyleCnt="0"/>
      <dgm:spPr/>
    </dgm:pt>
    <dgm:pt modelId="{5243B5AE-7BFF-854B-825D-F51C1B1459B3}" type="pres">
      <dgm:prSet presAssocID="{A1846C42-76F6-4619-8134-5045F407791A}" presName="childText" presStyleLbl="conFgAcc1" presStyleIdx="0" presStyleCnt="2">
        <dgm:presLayoutVars>
          <dgm:bulletEnabled val="1"/>
        </dgm:presLayoutVars>
      </dgm:prSet>
      <dgm:spPr/>
    </dgm:pt>
    <dgm:pt modelId="{DB32C565-F65A-7D4C-AFC3-DB5113D6CB07}" type="pres">
      <dgm:prSet presAssocID="{BD884409-ACDC-4B24-8346-4AC1B921847F}" presName="spaceBetweenRectangles" presStyleCnt="0"/>
      <dgm:spPr/>
    </dgm:pt>
    <dgm:pt modelId="{90CF8727-660A-6E45-8B57-C42887EB07E2}" type="pres">
      <dgm:prSet presAssocID="{9440D6FF-62BD-4C34-AB59-69948913DC04}" presName="parentLin" presStyleCnt="0"/>
      <dgm:spPr/>
    </dgm:pt>
    <dgm:pt modelId="{93CE16AA-6089-9E4D-A6CF-17242C6AA7F7}" type="pres">
      <dgm:prSet presAssocID="{9440D6FF-62BD-4C34-AB59-69948913DC04}" presName="parentLeftMargin" presStyleLbl="node1" presStyleIdx="0" presStyleCnt="2"/>
      <dgm:spPr/>
    </dgm:pt>
    <dgm:pt modelId="{47022056-3981-944D-BA1E-729E50B99F6F}" type="pres">
      <dgm:prSet presAssocID="{9440D6FF-62BD-4C34-AB59-69948913DC0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981046D-BD3B-E345-9A8B-4F7E21B9400B}" type="pres">
      <dgm:prSet presAssocID="{9440D6FF-62BD-4C34-AB59-69948913DC04}" presName="negativeSpace" presStyleCnt="0"/>
      <dgm:spPr/>
    </dgm:pt>
    <dgm:pt modelId="{25CB23E4-591D-AB48-B5C8-084D42820015}" type="pres">
      <dgm:prSet presAssocID="{9440D6FF-62BD-4C34-AB59-69948913DC0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6EC6D00-0B1A-F64B-8A48-90CB64D42B90}" type="presOf" srcId="{A1846C42-76F6-4619-8134-5045F407791A}" destId="{BCA4C801-BC5E-2D4A-B1E3-BBACA75AA1E5}" srcOrd="0" destOrd="0" presId="urn:microsoft.com/office/officeart/2005/8/layout/list1"/>
    <dgm:cxn modelId="{3580EB2D-8888-4047-B866-865934D2140E}" srcId="{A1846C42-76F6-4619-8134-5045F407791A}" destId="{A7097DA1-1A14-4A92-B0AB-8B7BA98224B4}" srcOrd="1" destOrd="0" parTransId="{F5C49C03-77E5-4663-AA08-179AF3153964}" sibTransId="{712039B7-DF66-4369-9963-EAEB23EAFB30}"/>
    <dgm:cxn modelId="{0D6A2139-88F8-4A9E-BB52-C02FC861551B}" srcId="{9440D6FF-62BD-4C34-AB59-69948913DC04}" destId="{850DEC77-F649-4350-881B-18ED37C6690B}" srcOrd="2" destOrd="0" parTransId="{ED291497-0326-49FA-8895-87A885DC6E26}" sibTransId="{C54E601E-0138-4158-B448-68106FC6BBDA}"/>
    <dgm:cxn modelId="{4157FD4C-9257-4B55-9F35-34E4FB443DEC}" srcId="{3E115564-84A2-438B-8607-2C0E14FE650D}" destId="{A1846C42-76F6-4619-8134-5045F407791A}" srcOrd="0" destOrd="0" parTransId="{65749E94-66D5-422D-8764-3F3869D67D30}" sibTransId="{BD884409-ACDC-4B24-8346-4AC1B921847F}"/>
    <dgm:cxn modelId="{2E95EA55-22BD-C041-B4C0-67359BFBEF7A}" type="presOf" srcId="{732F1BF8-3D63-42A8-8EC3-74DE19279AAB}" destId="{5243B5AE-7BFF-854B-825D-F51C1B1459B3}" srcOrd="0" destOrd="0" presId="urn:microsoft.com/office/officeart/2005/8/layout/list1"/>
    <dgm:cxn modelId="{2AE2425D-0460-1243-887F-1D373C080EA5}" type="presOf" srcId="{A1846C42-76F6-4619-8134-5045F407791A}" destId="{F6A58A78-50E7-3A43-85FB-61E5498AF8A2}" srcOrd="1" destOrd="0" presId="urn:microsoft.com/office/officeart/2005/8/layout/list1"/>
    <dgm:cxn modelId="{CF2F5868-B16D-E347-819A-B3B2544E331D}" type="presOf" srcId="{850DEC77-F649-4350-881B-18ED37C6690B}" destId="{25CB23E4-591D-AB48-B5C8-084D42820015}" srcOrd="0" destOrd="2" presId="urn:microsoft.com/office/officeart/2005/8/layout/list1"/>
    <dgm:cxn modelId="{DD9BCB71-5267-4FF5-8876-3707A4ACA58D}" srcId="{A1846C42-76F6-4619-8134-5045F407791A}" destId="{732F1BF8-3D63-42A8-8EC3-74DE19279AAB}" srcOrd="0" destOrd="0" parTransId="{C8281DB3-C82B-4B99-AF41-BA9B76D7C219}" sibTransId="{5536C7D9-2D1A-45D2-B09C-398B69B5C39C}"/>
    <dgm:cxn modelId="{1D6E9572-D080-9A40-A0A0-594C07A8E02A}" type="presOf" srcId="{3E115564-84A2-438B-8607-2C0E14FE650D}" destId="{AF7B1D66-B68E-3745-9190-2C5BBA8C4644}" srcOrd="0" destOrd="0" presId="urn:microsoft.com/office/officeart/2005/8/layout/list1"/>
    <dgm:cxn modelId="{3BE36277-297D-964D-BFC3-A18C1E2AACEF}" type="presOf" srcId="{9440D6FF-62BD-4C34-AB59-69948913DC04}" destId="{47022056-3981-944D-BA1E-729E50B99F6F}" srcOrd="1" destOrd="0" presId="urn:microsoft.com/office/officeart/2005/8/layout/list1"/>
    <dgm:cxn modelId="{AFA2C67D-89F1-A647-94AE-C734DAD74A29}" type="presOf" srcId="{9440D6FF-62BD-4C34-AB59-69948913DC04}" destId="{93CE16AA-6089-9E4D-A6CF-17242C6AA7F7}" srcOrd="0" destOrd="0" presId="urn:microsoft.com/office/officeart/2005/8/layout/list1"/>
    <dgm:cxn modelId="{1C47D681-DED0-4F5F-A8BE-88FD234328F4}" srcId="{9440D6FF-62BD-4C34-AB59-69948913DC04}" destId="{A3A4BBBB-52E2-4E48-A049-540F44DC4C8D}" srcOrd="1" destOrd="0" parTransId="{9964E035-702D-4FCA-9F96-014613C73E1E}" sibTransId="{DD01953E-AEF1-4207-91ED-5F4C434CAB0B}"/>
    <dgm:cxn modelId="{2BD58783-3A87-FB4B-9EF3-7678DE3905B8}" type="presOf" srcId="{6EAA6447-8781-411D-8758-97F82B29C1AF}" destId="{5243B5AE-7BFF-854B-825D-F51C1B1459B3}" srcOrd="0" destOrd="2" presId="urn:microsoft.com/office/officeart/2005/8/layout/list1"/>
    <dgm:cxn modelId="{C13C6087-5E54-4AA0-85BB-DD53EE815175}" srcId="{9440D6FF-62BD-4C34-AB59-69948913DC04}" destId="{CEED52DC-B5E2-42D9-BD59-5E1C4DEC929A}" srcOrd="0" destOrd="0" parTransId="{16FC0DAE-61E5-4BFB-86DB-3CE8BDC81260}" sibTransId="{8042B27D-195A-4358-92E9-28FA50D1C0E5}"/>
    <dgm:cxn modelId="{EA27BB8F-981C-4B4F-B93C-BBE53D5D9951}" type="presOf" srcId="{A3A4BBBB-52E2-4E48-A049-540F44DC4C8D}" destId="{25CB23E4-591D-AB48-B5C8-084D42820015}" srcOrd="0" destOrd="1" presId="urn:microsoft.com/office/officeart/2005/8/layout/list1"/>
    <dgm:cxn modelId="{227D7E90-E05F-4451-B313-532325A516FF}" srcId="{3E115564-84A2-438B-8607-2C0E14FE650D}" destId="{9440D6FF-62BD-4C34-AB59-69948913DC04}" srcOrd="1" destOrd="0" parTransId="{1AAE5F2D-7C5D-4228-9327-F996357FE814}" sibTransId="{A4942175-7F72-46B2-BDDE-9BBB02254DCC}"/>
    <dgm:cxn modelId="{ADAA42AA-166D-6941-B9E3-609351AD7EB9}" type="presOf" srcId="{A7097DA1-1A14-4A92-B0AB-8B7BA98224B4}" destId="{5243B5AE-7BFF-854B-825D-F51C1B1459B3}" srcOrd="0" destOrd="1" presId="urn:microsoft.com/office/officeart/2005/8/layout/list1"/>
    <dgm:cxn modelId="{B59929BA-2505-8947-9C5E-ADB6B95C21B0}" type="presOf" srcId="{CEED52DC-B5E2-42D9-BD59-5E1C4DEC929A}" destId="{25CB23E4-591D-AB48-B5C8-084D42820015}" srcOrd="0" destOrd="0" presId="urn:microsoft.com/office/officeart/2005/8/layout/list1"/>
    <dgm:cxn modelId="{A64A25D1-DE86-4FB8-86EF-8C5897C33049}" srcId="{A1846C42-76F6-4619-8134-5045F407791A}" destId="{6EAA6447-8781-411D-8758-97F82B29C1AF}" srcOrd="2" destOrd="0" parTransId="{B054DD0A-5A8B-4D8D-9ED6-0A5D7ED9B770}" sibTransId="{E06F7848-3661-40E5-B16A-AD987A696C39}"/>
    <dgm:cxn modelId="{FFDB0903-4A96-D747-B9F1-5439B90AFAB1}" type="presParOf" srcId="{AF7B1D66-B68E-3745-9190-2C5BBA8C4644}" destId="{8AFC95D7-D211-2341-B0F2-CE1F679DD510}" srcOrd="0" destOrd="0" presId="urn:microsoft.com/office/officeart/2005/8/layout/list1"/>
    <dgm:cxn modelId="{D1893513-B730-2C45-AB22-1D1EF23A343A}" type="presParOf" srcId="{8AFC95D7-D211-2341-B0F2-CE1F679DD510}" destId="{BCA4C801-BC5E-2D4A-B1E3-BBACA75AA1E5}" srcOrd="0" destOrd="0" presId="urn:microsoft.com/office/officeart/2005/8/layout/list1"/>
    <dgm:cxn modelId="{77A47B53-CEEB-4542-8038-8F0FFF4D2B5F}" type="presParOf" srcId="{8AFC95D7-D211-2341-B0F2-CE1F679DD510}" destId="{F6A58A78-50E7-3A43-85FB-61E5498AF8A2}" srcOrd="1" destOrd="0" presId="urn:microsoft.com/office/officeart/2005/8/layout/list1"/>
    <dgm:cxn modelId="{C1E2CE94-A815-0047-8796-2A838E5EFC29}" type="presParOf" srcId="{AF7B1D66-B68E-3745-9190-2C5BBA8C4644}" destId="{6EF32C53-D5F9-9F46-ADCF-0652E3515C45}" srcOrd="1" destOrd="0" presId="urn:microsoft.com/office/officeart/2005/8/layout/list1"/>
    <dgm:cxn modelId="{B98676AB-9598-F64F-9311-71A82A98BD95}" type="presParOf" srcId="{AF7B1D66-B68E-3745-9190-2C5BBA8C4644}" destId="{5243B5AE-7BFF-854B-825D-F51C1B1459B3}" srcOrd="2" destOrd="0" presId="urn:microsoft.com/office/officeart/2005/8/layout/list1"/>
    <dgm:cxn modelId="{D3602E16-E462-DE4E-A58F-AD4A10C706A4}" type="presParOf" srcId="{AF7B1D66-B68E-3745-9190-2C5BBA8C4644}" destId="{DB32C565-F65A-7D4C-AFC3-DB5113D6CB07}" srcOrd="3" destOrd="0" presId="urn:microsoft.com/office/officeart/2005/8/layout/list1"/>
    <dgm:cxn modelId="{BD6C33BB-9022-B046-885A-6D58B1DE2EA3}" type="presParOf" srcId="{AF7B1D66-B68E-3745-9190-2C5BBA8C4644}" destId="{90CF8727-660A-6E45-8B57-C42887EB07E2}" srcOrd="4" destOrd="0" presId="urn:microsoft.com/office/officeart/2005/8/layout/list1"/>
    <dgm:cxn modelId="{A85A5540-8DE5-D147-8C9F-59BF053EBE12}" type="presParOf" srcId="{90CF8727-660A-6E45-8B57-C42887EB07E2}" destId="{93CE16AA-6089-9E4D-A6CF-17242C6AA7F7}" srcOrd="0" destOrd="0" presId="urn:microsoft.com/office/officeart/2005/8/layout/list1"/>
    <dgm:cxn modelId="{214801F2-05A9-EF41-8ED8-3E327AFD6C5C}" type="presParOf" srcId="{90CF8727-660A-6E45-8B57-C42887EB07E2}" destId="{47022056-3981-944D-BA1E-729E50B99F6F}" srcOrd="1" destOrd="0" presId="urn:microsoft.com/office/officeart/2005/8/layout/list1"/>
    <dgm:cxn modelId="{1F4F9596-FAEA-7F49-8E5F-E712D166E015}" type="presParOf" srcId="{AF7B1D66-B68E-3745-9190-2C5BBA8C4644}" destId="{1981046D-BD3B-E345-9A8B-4F7E21B9400B}" srcOrd="5" destOrd="0" presId="urn:microsoft.com/office/officeart/2005/8/layout/list1"/>
    <dgm:cxn modelId="{11586D84-D93D-634E-AC9E-CDAFD514011E}" type="presParOf" srcId="{AF7B1D66-B68E-3745-9190-2C5BBA8C4644}" destId="{25CB23E4-591D-AB48-B5C8-084D4282001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995EF7-9925-4848-B1C5-61FE2E6C29F5}">
      <dsp:nvSpPr>
        <dsp:cNvPr id="0" name=""/>
        <dsp:cNvSpPr/>
      </dsp:nvSpPr>
      <dsp:spPr>
        <a:xfrm>
          <a:off x="0" y="3701444"/>
          <a:ext cx="5886291" cy="121489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Questions?</a:t>
          </a:r>
        </a:p>
      </dsp:txBody>
      <dsp:txXfrm>
        <a:off x="0" y="3701444"/>
        <a:ext cx="5886291" cy="1214896"/>
      </dsp:txXfrm>
    </dsp:sp>
    <dsp:sp modelId="{AC1B7E24-B340-2D4D-85E0-5A6B9D9F2A6F}">
      <dsp:nvSpPr>
        <dsp:cNvPr id="0" name=""/>
        <dsp:cNvSpPr/>
      </dsp:nvSpPr>
      <dsp:spPr>
        <a:xfrm rot="10800000">
          <a:off x="0" y="1851157"/>
          <a:ext cx="5886291" cy="1868511"/>
        </a:xfrm>
        <a:prstGeom prst="upArrowCallout">
          <a:avLst/>
        </a:prstGeom>
        <a:solidFill>
          <a:schemeClr val="accent5">
            <a:hueOff val="-3144000"/>
            <a:satOff val="-19053"/>
            <a:lumOff val="235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Actions and Recommendations for PSIRT handling with conditions: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a. Discovery of a serious Zero-Day vulnerability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	       b. R&amp;D cannot fix the issue within the required time frame. </a:t>
          </a:r>
        </a:p>
      </dsp:txBody>
      <dsp:txXfrm rot="10800000">
        <a:off x="0" y="1851157"/>
        <a:ext cx="5886291" cy="1214102"/>
      </dsp:txXfrm>
    </dsp:sp>
    <dsp:sp modelId="{DF992D4B-66BA-DA47-8894-42CC884D3DBB}">
      <dsp:nvSpPr>
        <dsp:cNvPr id="0" name=""/>
        <dsp:cNvSpPr/>
      </dsp:nvSpPr>
      <dsp:spPr>
        <a:xfrm rot="10800000">
          <a:off x="0" y="869"/>
          <a:ext cx="5886291" cy="1868511"/>
        </a:xfrm>
        <a:prstGeom prst="upArrowCallout">
          <a:avLst/>
        </a:prstGeom>
        <a:solidFill>
          <a:schemeClr val="accent5">
            <a:hueOff val="-6288001"/>
            <a:satOff val="-38105"/>
            <a:lumOff val="470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CNA: Responsibilities of a CVE Numbering Authority </a:t>
          </a:r>
        </a:p>
      </dsp:txBody>
      <dsp:txXfrm rot="10800000">
        <a:off x="0" y="869"/>
        <a:ext cx="5886291" cy="12141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DA7A9D-0BD6-F549-9D67-E1ABD15D1FA6}">
      <dsp:nvSpPr>
        <dsp:cNvPr id="0" name=""/>
        <dsp:cNvSpPr/>
      </dsp:nvSpPr>
      <dsp:spPr>
        <a:xfrm>
          <a:off x="0" y="0"/>
          <a:ext cx="5741533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A03B5A-6949-6244-B442-812575435CFC}">
      <dsp:nvSpPr>
        <dsp:cNvPr id="0" name=""/>
        <dsp:cNvSpPr/>
      </dsp:nvSpPr>
      <dsp:spPr>
        <a:xfrm>
          <a:off x="0" y="0"/>
          <a:ext cx="5741533" cy="646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1. Vulnerability Qualification </a:t>
          </a:r>
        </a:p>
      </dsp:txBody>
      <dsp:txXfrm>
        <a:off x="0" y="0"/>
        <a:ext cx="5741533" cy="646372"/>
      </dsp:txXfrm>
    </dsp:sp>
    <dsp:sp modelId="{B8A3253D-B99A-5146-B47D-1439F263851A}">
      <dsp:nvSpPr>
        <dsp:cNvPr id="0" name=""/>
        <dsp:cNvSpPr/>
      </dsp:nvSpPr>
      <dsp:spPr>
        <a:xfrm>
          <a:off x="0" y="646372"/>
          <a:ext cx="5741533" cy="0"/>
        </a:xfrm>
        <a:prstGeom prst="line">
          <a:avLst/>
        </a:prstGeom>
        <a:solidFill>
          <a:schemeClr val="accent5">
            <a:hueOff val="-898286"/>
            <a:satOff val="-5444"/>
            <a:lumOff val="672"/>
            <a:alphaOff val="0"/>
          </a:schemeClr>
        </a:solidFill>
        <a:ln w="19050" cap="rnd" cmpd="sng" algn="ctr">
          <a:solidFill>
            <a:schemeClr val="accent5">
              <a:hueOff val="-898286"/>
              <a:satOff val="-5444"/>
              <a:lumOff val="6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B57BC8-8F2F-7447-A91B-F4E459686DFD}">
      <dsp:nvSpPr>
        <dsp:cNvPr id="0" name=""/>
        <dsp:cNvSpPr/>
      </dsp:nvSpPr>
      <dsp:spPr>
        <a:xfrm>
          <a:off x="0" y="646372"/>
          <a:ext cx="5741533" cy="646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2. Verify Severity</a:t>
          </a:r>
        </a:p>
      </dsp:txBody>
      <dsp:txXfrm>
        <a:off x="0" y="646372"/>
        <a:ext cx="5741533" cy="646372"/>
      </dsp:txXfrm>
    </dsp:sp>
    <dsp:sp modelId="{951874BD-10F2-5544-8F53-0509C8C77BF1}">
      <dsp:nvSpPr>
        <dsp:cNvPr id="0" name=""/>
        <dsp:cNvSpPr/>
      </dsp:nvSpPr>
      <dsp:spPr>
        <a:xfrm>
          <a:off x="0" y="1292745"/>
          <a:ext cx="5741533" cy="0"/>
        </a:xfrm>
        <a:prstGeom prst="line">
          <a:avLst/>
        </a:prstGeom>
        <a:solidFill>
          <a:schemeClr val="accent5">
            <a:hueOff val="-1796572"/>
            <a:satOff val="-10887"/>
            <a:lumOff val="1344"/>
            <a:alphaOff val="0"/>
          </a:schemeClr>
        </a:solidFill>
        <a:ln w="19050" cap="rnd" cmpd="sng" algn="ctr">
          <a:solidFill>
            <a:schemeClr val="accent5">
              <a:hueOff val="-1796572"/>
              <a:satOff val="-10887"/>
              <a:lumOff val="13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689D38-826A-5F4A-82B5-B99A0CF6CEBD}">
      <dsp:nvSpPr>
        <dsp:cNvPr id="0" name=""/>
        <dsp:cNvSpPr/>
      </dsp:nvSpPr>
      <dsp:spPr>
        <a:xfrm>
          <a:off x="0" y="1292745"/>
          <a:ext cx="5741533" cy="646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3. Advise Internal Stakeholders</a:t>
          </a:r>
        </a:p>
      </dsp:txBody>
      <dsp:txXfrm>
        <a:off x="0" y="1292745"/>
        <a:ext cx="5741533" cy="646372"/>
      </dsp:txXfrm>
    </dsp:sp>
    <dsp:sp modelId="{5FDA689D-CAB3-CB4C-8AC7-2DBC9C55D91D}">
      <dsp:nvSpPr>
        <dsp:cNvPr id="0" name=""/>
        <dsp:cNvSpPr/>
      </dsp:nvSpPr>
      <dsp:spPr>
        <a:xfrm>
          <a:off x="0" y="1939118"/>
          <a:ext cx="5741533" cy="0"/>
        </a:xfrm>
        <a:prstGeom prst="line">
          <a:avLst/>
        </a:prstGeom>
        <a:solidFill>
          <a:schemeClr val="accent5">
            <a:hueOff val="-2694857"/>
            <a:satOff val="-16331"/>
            <a:lumOff val="2016"/>
            <a:alphaOff val="0"/>
          </a:schemeClr>
        </a:solidFill>
        <a:ln w="19050" cap="rnd" cmpd="sng" algn="ctr">
          <a:solidFill>
            <a:schemeClr val="accent5">
              <a:hueOff val="-2694857"/>
              <a:satOff val="-16331"/>
              <a:lumOff val="20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C9D026-7051-1F4E-A453-01A58D4056CF}">
      <dsp:nvSpPr>
        <dsp:cNvPr id="0" name=""/>
        <dsp:cNvSpPr/>
      </dsp:nvSpPr>
      <dsp:spPr>
        <a:xfrm>
          <a:off x="0" y="1939118"/>
          <a:ext cx="5741533" cy="646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4. Reproduce the vulnerability</a:t>
          </a:r>
        </a:p>
      </dsp:txBody>
      <dsp:txXfrm>
        <a:off x="0" y="1939118"/>
        <a:ext cx="5741533" cy="646372"/>
      </dsp:txXfrm>
    </dsp:sp>
    <dsp:sp modelId="{E7162730-3FE8-D346-8CEB-76C7D9E74D36}">
      <dsp:nvSpPr>
        <dsp:cNvPr id="0" name=""/>
        <dsp:cNvSpPr/>
      </dsp:nvSpPr>
      <dsp:spPr>
        <a:xfrm>
          <a:off x="0" y="2585491"/>
          <a:ext cx="5741533" cy="0"/>
        </a:xfrm>
        <a:prstGeom prst="line">
          <a:avLst/>
        </a:prstGeom>
        <a:solidFill>
          <a:schemeClr val="accent5">
            <a:hueOff val="-3593143"/>
            <a:satOff val="-21774"/>
            <a:lumOff val="2689"/>
            <a:alphaOff val="0"/>
          </a:schemeClr>
        </a:solidFill>
        <a:ln w="19050" cap="rnd" cmpd="sng" algn="ctr">
          <a:solidFill>
            <a:schemeClr val="accent5">
              <a:hueOff val="-3593143"/>
              <a:satOff val="-21774"/>
              <a:lumOff val="268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7EE2DE-C4CC-514E-A730-9EB738968756}">
      <dsp:nvSpPr>
        <dsp:cNvPr id="0" name=""/>
        <dsp:cNvSpPr/>
      </dsp:nvSpPr>
      <dsp:spPr>
        <a:xfrm>
          <a:off x="0" y="2585491"/>
          <a:ext cx="5741533" cy="646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5. Remediate – Create a temporary workaround(s)*</a:t>
          </a:r>
        </a:p>
      </dsp:txBody>
      <dsp:txXfrm>
        <a:off x="0" y="2585491"/>
        <a:ext cx="5741533" cy="646372"/>
      </dsp:txXfrm>
    </dsp:sp>
    <dsp:sp modelId="{2D3A2CF8-CB67-C64B-969A-6CDA0FC628BE}">
      <dsp:nvSpPr>
        <dsp:cNvPr id="0" name=""/>
        <dsp:cNvSpPr/>
      </dsp:nvSpPr>
      <dsp:spPr>
        <a:xfrm>
          <a:off x="0" y="3231864"/>
          <a:ext cx="5741533" cy="0"/>
        </a:xfrm>
        <a:prstGeom prst="line">
          <a:avLst/>
        </a:prstGeom>
        <a:solidFill>
          <a:schemeClr val="accent5">
            <a:hueOff val="-4491429"/>
            <a:satOff val="-27218"/>
            <a:lumOff val="3361"/>
            <a:alphaOff val="0"/>
          </a:schemeClr>
        </a:solidFill>
        <a:ln w="19050" cap="rnd" cmpd="sng" algn="ctr">
          <a:solidFill>
            <a:schemeClr val="accent5">
              <a:hueOff val="-4491429"/>
              <a:satOff val="-27218"/>
              <a:lumOff val="33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7721E6-F043-0A43-A4D4-68F33FDEAE38}">
      <dsp:nvSpPr>
        <dsp:cNvPr id="0" name=""/>
        <dsp:cNvSpPr/>
      </dsp:nvSpPr>
      <dsp:spPr>
        <a:xfrm>
          <a:off x="0" y="3231864"/>
          <a:ext cx="5741533" cy="646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6. Disclosure </a:t>
          </a:r>
        </a:p>
      </dsp:txBody>
      <dsp:txXfrm>
        <a:off x="0" y="3231864"/>
        <a:ext cx="5741533" cy="646372"/>
      </dsp:txXfrm>
    </dsp:sp>
    <dsp:sp modelId="{2AE39D9B-40EE-9640-BFE9-F2D587022028}">
      <dsp:nvSpPr>
        <dsp:cNvPr id="0" name=""/>
        <dsp:cNvSpPr/>
      </dsp:nvSpPr>
      <dsp:spPr>
        <a:xfrm>
          <a:off x="0" y="3878237"/>
          <a:ext cx="5741533" cy="0"/>
        </a:xfrm>
        <a:prstGeom prst="line">
          <a:avLst/>
        </a:prstGeom>
        <a:solidFill>
          <a:schemeClr val="accent5">
            <a:hueOff val="-5389715"/>
            <a:satOff val="-32661"/>
            <a:lumOff val="4033"/>
            <a:alphaOff val="0"/>
          </a:schemeClr>
        </a:solidFill>
        <a:ln w="19050" cap="rnd" cmpd="sng" algn="ctr">
          <a:solidFill>
            <a:schemeClr val="accent5">
              <a:hueOff val="-5389715"/>
              <a:satOff val="-32661"/>
              <a:lumOff val="403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C7912-2D1F-BB42-B8E8-F6730EF05687}">
      <dsp:nvSpPr>
        <dsp:cNvPr id="0" name=""/>
        <dsp:cNvSpPr/>
      </dsp:nvSpPr>
      <dsp:spPr>
        <a:xfrm>
          <a:off x="0" y="3878237"/>
          <a:ext cx="5741533" cy="646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7. Continue with Remediation</a:t>
          </a:r>
        </a:p>
      </dsp:txBody>
      <dsp:txXfrm>
        <a:off x="0" y="3878237"/>
        <a:ext cx="5741533" cy="646372"/>
      </dsp:txXfrm>
    </dsp:sp>
    <dsp:sp modelId="{F7746DE3-AF40-1D4C-A8AD-5506CF925894}">
      <dsp:nvSpPr>
        <dsp:cNvPr id="0" name=""/>
        <dsp:cNvSpPr/>
      </dsp:nvSpPr>
      <dsp:spPr>
        <a:xfrm>
          <a:off x="0" y="4524610"/>
          <a:ext cx="5741533" cy="0"/>
        </a:xfrm>
        <a:prstGeom prst="line">
          <a:avLst/>
        </a:prstGeom>
        <a:solidFill>
          <a:schemeClr val="accent5">
            <a:hueOff val="-6288001"/>
            <a:satOff val="-38105"/>
            <a:lumOff val="4705"/>
            <a:alphaOff val="0"/>
          </a:schemeClr>
        </a:solidFill>
        <a:ln w="19050" cap="rnd" cmpd="sng" algn="ctr">
          <a:solidFill>
            <a:schemeClr val="accent5">
              <a:hueOff val="-6288001"/>
              <a:satOff val="-38105"/>
              <a:lumOff val="47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783AC-311E-F947-B84E-9C1DC9CA5C52}">
      <dsp:nvSpPr>
        <dsp:cNvPr id="0" name=""/>
        <dsp:cNvSpPr/>
      </dsp:nvSpPr>
      <dsp:spPr>
        <a:xfrm>
          <a:off x="0" y="4524610"/>
          <a:ext cx="5741533" cy="6463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8. Post-Mortem</a:t>
          </a:r>
        </a:p>
      </dsp:txBody>
      <dsp:txXfrm>
        <a:off x="0" y="4524610"/>
        <a:ext cx="5741533" cy="6463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43B5AE-7BFF-854B-825D-F51C1B1459B3}">
      <dsp:nvSpPr>
        <dsp:cNvPr id="0" name=""/>
        <dsp:cNvSpPr/>
      </dsp:nvSpPr>
      <dsp:spPr>
        <a:xfrm>
          <a:off x="0" y="530891"/>
          <a:ext cx="6545199" cy="18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7980" tIns="499872" rIns="50798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Executives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Engineering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R&amp;D – communication should be ongoing</a:t>
          </a:r>
        </a:p>
      </dsp:txBody>
      <dsp:txXfrm>
        <a:off x="0" y="530891"/>
        <a:ext cx="6545199" cy="1814399"/>
      </dsp:txXfrm>
    </dsp:sp>
    <dsp:sp modelId="{F6A58A78-50E7-3A43-85FB-61E5498AF8A2}">
      <dsp:nvSpPr>
        <dsp:cNvPr id="0" name=""/>
        <dsp:cNvSpPr/>
      </dsp:nvSpPr>
      <dsp:spPr>
        <a:xfrm>
          <a:off x="327259" y="176651"/>
          <a:ext cx="4581639" cy="7084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3175" tIns="0" rIns="17317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Who:</a:t>
          </a:r>
        </a:p>
      </dsp:txBody>
      <dsp:txXfrm>
        <a:off x="361844" y="211236"/>
        <a:ext cx="4512469" cy="639310"/>
      </dsp:txXfrm>
    </dsp:sp>
    <dsp:sp modelId="{25CB23E4-591D-AB48-B5C8-084D42820015}">
      <dsp:nvSpPr>
        <dsp:cNvPr id="0" name=""/>
        <dsp:cNvSpPr/>
      </dsp:nvSpPr>
      <dsp:spPr>
        <a:xfrm>
          <a:off x="0" y="2829131"/>
          <a:ext cx="6545199" cy="18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-6288001"/>
              <a:satOff val="-38105"/>
              <a:lumOff val="470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7980" tIns="499872" rIns="50798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Situation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Actions taken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Future course of action</a:t>
          </a:r>
        </a:p>
      </dsp:txBody>
      <dsp:txXfrm>
        <a:off x="0" y="2829131"/>
        <a:ext cx="6545199" cy="1814399"/>
      </dsp:txXfrm>
    </dsp:sp>
    <dsp:sp modelId="{47022056-3981-944D-BA1E-729E50B99F6F}">
      <dsp:nvSpPr>
        <dsp:cNvPr id="0" name=""/>
        <dsp:cNvSpPr/>
      </dsp:nvSpPr>
      <dsp:spPr>
        <a:xfrm>
          <a:off x="327259" y="2474891"/>
          <a:ext cx="4581639" cy="708480"/>
        </a:xfrm>
        <a:prstGeom prst="roundRect">
          <a:avLst/>
        </a:prstGeom>
        <a:gradFill rotWithShape="0">
          <a:gsLst>
            <a:gs pos="0">
              <a:schemeClr val="accent5">
                <a:hueOff val="-6288001"/>
                <a:satOff val="-38105"/>
                <a:lumOff val="4705"/>
                <a:alphaOff val="0"/>
                <a:tint val="98000"/>
                <a:lumMod val="100000"/>
              </a:schemeClr>
            </a:gs>
            <a:gs pos="100000">
              <a:schemeClr val="accent5">
                <a:hueOff val="-6288001"/>
                <a:satOff val="-38105"/>
                <a:lumOff val="4705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3175" tIns="0" rIns="17317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About:</a:t>
          </a:r>
        </a:p>
      </dsp:txBody>
      <dsp:txXfrm>
        <a:off x="361844" y="2509476"/>
        <a:ext cx="4512469" cy="6393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318AAE-3BFB-4345-B9D3-A75DE06CE21B}" type="datetimeFigureOut">
              <a:rPr lang="en-TW" smtClean="0"/>
              <a:t>2025/7/11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BA33A4-9F74-F546-B87A-9EBF9937A320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203195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www.cve.org</a:t>
            </a:r>
            <a:r>
              <a:rPr lang="en-US" dirty="0"/>
              <a:t>/</a:t>
            </a:r>
            <a:r>
              <a:rPr lang="en-US" dirty="0" err="1"/>
              <a:t>PartnerInformation</a:t>
            </a:r>
            <a:r>
              <a:rPr lang="en-US" dirty="0"/>
              <a:t>/</a:t>
            </a:r>
            <a:r>
              <a:rPr lang="en-US" dirty="0" err="1"/>
              <a:t>ListofPartners</a:t>
            </a:r>
            <a:r>
              <a:rPr lang="en-US" dirty="0"/>
              <a:t>/partner/Moxa</a:t>
            </a:r>
          </a:p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A33A4-9F74-F546-B87A-9EBF9937A320}" type="slidenum">
              <a:rPr lang="en-TW" smtClean="0"/>
              <a:t>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97580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W" dirty="0"/>
              <a:t>Depends largely on the PSIRT maturity level. </a:t>
            </a:r>
            <a:br>
              <a:rPr lang="en-TW" dirty="0"/>
            </a:br>
            <a:r>
              <a:rPr lang="en-TW" dirty="0"/>
              <a:t>From the perspective that PSIRT just found out about the issue</a:t>
            </a:r>
            <a:br>
              <a:rPr lang="en-TW" dirty="0"/>
            </a:br>
            <a:r>
              <a:rPr lang="en-TW" dirty="0"/>
              <a:t>* likely starting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A33A4-9F74-F546-B87A-9EBF9937A320}" type="slidenum">
              <a:rPr lang="en-TW" smtClean="0"/>
              <a:t>5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954261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TW" dirty="0"/>
              <a:t>Check that the vulnerability reaches the vulnerability level on the ‘Bug Bar’: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TW" dirty="0"/>
              <a:t>Correlate with Threat Intelligence</a:t>
            </a:r>
          </a:p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A33A4-9F74-F546-B87A-9EBF9937A320}" type="slidenum">
              <a:rPr lang="en-TW" smtClean="0"/>
              <a:t>6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005516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TW" dirty="0"/>
              <a:t>dvantages of 2 – metrics that will dictate weakness in dev related to cybersecurity, training requirements, trends in vulnerability discovery,  future reference, time to fix data. Are there other impacted products / third party software, clients impacted. </a:t>
            </a:r>
            <a:br>
              <a:rPr lang="en-TW" dirty="0"/>
            </a:br>
            <a:r>
              <a:rPr lang="en-TW" dirty="0"/>
              <a:t>Verfiy this is a serious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A33A4-9F74-F546-B87A-9EBF9937A320}" type="slidenum">
              <a:rPr lang="en-TW" smtClean="0"/>
              <a:t>7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918988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W" dirty="0"/>
              <a:t>This is an optional step depending on SOPS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A33A4-9F74-F546-B87A-9EBF9937A320}" type="slidenum">
              <a:rPr lang="en-TW" smtClean="0"/>
              <a:t>8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0373064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1080A-7A53-4AB9-AA2A-EA59135F8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13B6EA-221D-1452-720F-C07C08183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AFD4B4-2A9E-4ED9-13C4-DBA467B7F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W" dirty="0"/>
              <a:t>Recreate the vulnerability in a safe environment. </a:t>
            </a:r>
          </a:p>
          <a:p>
            <a:r>
              <a:rPr lang="en-TW" dirty="0"/>
              <a:t>- </a:t>
            </a:r>
            <a:r>
              <a:rPr lang="en-US" dirty="0"/>
              <a:t>F</a:t>
            </a:r>
            <a:r>
              <a:rPr lang="en-TW" dirty="0"/>
              <a:t>or the Customers/engineering so the can complete risk analysis in their own environment.  </a:t>
            </a:r>
            <a:br>
              <a:rPr lang="en-TW" dirty="0"/>
            </a:br>
            <a:r>
              <a:rPr lang="en-TW" dirty="0"/>
              <a:t>- Reproducing it is important for disclusoer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F5BF7-EC79-9708-FEE2-C1C71EF14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A33A4-9F74-F546-B87A-9EBF9937A320}" type="slidenum">
              <a:rPr lang="en-TW" smtClean="0"/>
              <a:t>9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301652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TW" dirty="0"/>
              <a:t>etrics to consider # CWE, invovled third party components, on-time remediation, # of incidents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TW" dirty="0"/>
              <a:t>Legal considerations, how to handle unplanned public disclosure, how will this impact product development </a:t>
            </a:r>
          </a:p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A33A4-9F74-F546-B87A-9EBF9937A320}" type="slidenum">
              <a:rPr lang="en-TW" smtClean="0"/>
              <a:t>10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469088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TW" dirty="0"/>
              <a:t>ustomers may have issues implementing the workaround, ensure contact information is available for help, update wiki</a:t>
            </a:r>
          </a:p>
          <a:p>
            <a:r>
              <a:rPr lang="en-TW" dirty="0"/>
              <a:t>Do not disclose publicly </a:t>
            </a:r>
          </a:p>
          <a:p>
            <a:r>
              <a:rPr lang="en-TW" dirty="0"/>
              <a:t>– public notices increase attention has a boost threat activity. </a:t>
            </a:r>
            <a:r>
              <a:rPr lang="en-US" dirty="0"/>
              <a:t>N</a:t>
            </a:r>
            <a:r>
              <a:rPr lang="en-TW" dirty="0"/>
              <a:t>otifying the public about a serious vulnerability for which there is no fix dramatically increases the odds of exploit. </a:t>
            </a:r>
          </a:p>
          <a:p>
            <a:pPr marL="171450" indent="-171450">
              <a:buFontTx/>
              <a:buChar char="-"/>
            </a:pPr>
            <a:r>
              <a:rPr lang="en-TW" dirty="0"/>
              <a:t>C</a:t>
            </a:r>
            <a:r>
              <a:rPr lang="en-US" dirty="0"/>
              <a:t>NA requires a fix to publish a CVE – verify</a:t>
            </a:r>
          </a:p>
          <a:p>
            <a:r>
              <a:rPr lang="en-US" dirty="0"/>
              <a:t>May cause permanent damage business  and reputation damage through FUD – fear uncertainty and doubt. </a:t>
            </a:r>
            <a:br>
              <a:rPr lang="en-US" dirty="0"/>
            </a:br>
            <a:r>
              <a:rPr lang="en-US" dirty="0"/>
              <a:t>If we do disclose:</a:t>
            </a:r>
            <a:br>
              <a:rPr lang="en-US" dirty="0"/>
            </a:br>
            <a:r>
              <a:rPr lang="en-US" dirty="0"/>
              <a:t>CVE ID</a:t>
            </a:r>
          </a:p>
          <a:p>
            <a:r>
              <a:rPr lang="en-US" dirty="0"/>
              <a:t>Affected products</a:t>
            </a:r>
          </a:p>
          <a:p>
            <a:r>
              <a:rPr lang="en-US" dirty="0"/>
              <a:t>Interim mitigations</a:t>
            </a:r>
          </a:p>
          <a:p>
            <a:r>
              <a:rPr lang="en-US" dirty="0"/>
              <a:t>Estimated fix timeline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171450" indent="-171450">
              <a:buFontTx/>
              <a:buChar char="-"/>
            </a:pPr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A33A4-9F74-F546-B87A-9EBF9937A320}" type="slidenum">
              <a:rPr lang="en-TW" smtClean="0"/>
              <a:t>11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9972312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W" dirty="0"/>
              <a:t>Ultimately we want to:</a:t>
            </a:r>
            <a:br>
              <a:rPr lang="en-TW" dirty="0"/>
            </a:br>
            <a:r>
              <a:rPr lang="en-TW" dirty="0"/>
              <a:t>Confirm</a:t>
            </a:r>
            <a:br>
              <a:rPr lang="en-TW" dirty="0"/>
            </a:br>
            <a:r>
              <a:rPr lang="en-TW" dirty="0"/>
              <a:t>Internal coordination – and workaround</a:t>
            </a:r>
          </a:p>
          <a:p>
            <a:r>
              <a:rPr lang="en-TW" dirty="0"/>
              <a:t>Stakeholder communication</a:t>
            </a:r>
          </a:p>
          <a:p>
            <a:r>
              <a:rPr lang="en-TW" dirty="0"/>
              <a:t>Issue Fix</a:t>
            </a:r>
          </a:p>
          <a:p>
            <a:r>
              <a:rPr lang="en-TW" dirty="0"/>
              <a:t>Communicate and Publish</a:t>
            </a:r>
          </a:p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A33A4-9F74-F546-B87A-9EBF9937A320}" type="slidenum">
              <a:rPr lang="en-TW" smtClean="0"/>
              <a:t>12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15273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51B09-2046-FEEF-183B-E644DCE9A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B0ABC-362E-0D69-0072-FDA09C2EB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53195E-2652-DDEA-90D7-37B77592F6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TW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9783E-1030-FE8A-9928-8969EDB48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BA33A4-9F74-F546-B87A-9EBF9937A320}" type="slidenum">
              <a:rPr lang="en-TW" smtClean="0"/>
              <a:t>13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74567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073D55F9-11A3-4523-8F38-6BA37933791A}" type="datetime1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389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396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7/11/25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96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7/11/25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01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7/11/25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93502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7/11/25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73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7/11/25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309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7/11/25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24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7/11/25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626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7/11/25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86629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7/11/25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20587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7/11/25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10006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7/11/25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46064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7/11/25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50087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BAB95-8DA7-460B-B00A-7037C8394FB0}" type="datetime1">
              <a:rPr lang="en-US" smtClean="0"/>
              <a:pPr/>
              <a:t>7/11/25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8178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39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8096C-64ED-4153-A483-5C02E44AD5C3}" type="datetime1">
              <a:rPr lang="en-US" smtClean="0"/>
              <a:t>7/11/25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93BAB95-8DA7-460B-B00A-7037C8394FB0}" type="datetime1">
              <a:rPr lang="en-US" smtClean="0"/>
              <a:pPr/>
              <a:t>7/11/25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9936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  <p:sldLayoutId id="2147483884" r:id="rId13"/>
    <p:sldLayoutId id="2147483885" r:id="rId14"/>
    <p:sldLayoutId id="2147483886" r:id="rId15"/>
    <p:sldLayoutId id="2147483887" r:id="rId16"/>
    <p:sldLayoutId id="2147483888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ve.org/ResourcesSupport/AllResources/CNARules#section_1-3_Purpos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mitre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icrosoft.com/en-us/msrc/sdlbugbar#:~:text=This%20bug%20bar%20describes%20different,fulfill%20requests%20from%20client%20processe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we.mitre.org/data/definitions/787.html" TargetMode="External"/><Relationship Id="rId4" Type="http://schemas.openxmlformats.org/officeDocument/2006/relationships/hyperlink" Target="https://www.first.org/cvss/calculator/4-0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hyperlink" Target="https://docs.oasis-open.org/csaf/csaf/v2.0/os/csaf-v2.0-os.md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asis-open.org/csaf/csaf/v2.0/os/csaf-v2.0-os.md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ightbulb idea concept">
            <a:extLst>
              <a:ext uri="{FF2B5EF4-FFF2-40B4-BE49-F238E27FC236}">
                <a16:creationId xmlns:a16="http://schemas.microsoft.com/office/drawing/2014/main" id="{DB7F4836-7E6C-0A70-483B-4319BA7416F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78422E-39CA-1686-93C2-922511C6CA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TW"/>
              <a:t>MOXA </a:t>
            </a:r>
            <a:br>
              <a:rPr lang="en-TW"/>
            </a:br>
            <a:r>
              <a:rPr lang="en-TW"/>
              <a:t>Interview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08BB67-D2F1-8FEC-BDF0-92B6306B8D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TW"/>
              <a:t>John Dall’olio</a:t>
            </a:r>
          </a:p>
        </p:txBody>
      </p:sp>
    </p:spTree>
    <p:extLst>
      <p:ext uri="{BB962C8B-B14F-4D97-AF65-F5344CB8AC3E}">
        <p14:creationId xmlns:p14="http://schemas.microsoft.com/office/powerpoint/2010/main" val="43480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BEA78D3-1250-461D-B1C3-A685A63B0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EE3020-D2AB-4568-9728-58CB9D91C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4654296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DB7BECE-01F0-4612-854F-D69D86C95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4644770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F750DB-BAF8-7381-C787-459E26B74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3351530" cy="499533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AGENDA</a:t>
            </a:r>
            <a:endParaRPr lang="en-TW" dirty="0">
              <a:solidFill>
                <a:srgbClr val="FFFFFF"/>
              </a:solidFill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E8D5A48-2B03-4F99-8D48-30237E113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1120" y="-2"/>
            <a:ext cx="7537705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80FEDB-FCCA-2FE6-2B79-2A5FBCCFF2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2408477"/>
              </p:ext>
            </p:extLst>
          </p:nvPr>
        </p:nvGraphicFramePr>
        <p:xfrm>
          <a:off x="5467509" y="804671"/>
          <a:ext cx="5886291" cy="4917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77785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83564-46C4-FA37-1951-6B3299E4C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898D1-5A85-8B72-6E9E-B525CE9A5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CNA - CVE Numbering Authority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EC595-B057-8C70-9C0B-AA4B3C340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TW" dirty="0"/>
              <a:t>C</a:t>
            </a:r>
            <a:r>
              <a:rPr lang="en-US" dirty="0"/>
              <a:t>NAs are authorized to issue CVE IDs and manage CVEs that is within a clearly defined scope, following predetermined rules dictated by the program Root CNA, in order maintain a coordinated vulnerability tracking system.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Ref: </a:t>
            </a:r>
            <a:r>
              <a:rPr lang="en-US" dirty="0">
                <a:hlinkClick r:id="rId3"/>
              </a:rPr>
              <a:t>CNA</a:t>
            </a: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4079545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01FC-41C9-E83E-57BF-A4F990585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Handling a Zero-Day Vulnerability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2259B-68D4-B0DD-536F-66EC2BF1E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TW" dirty="0"/>
              <a:t>Scenario: </a:t>
            </a:r>
          </a:p>
          <a:p>
            <a:r>
              <a:rPr lang="en-TW" dirty="0"/>
              <a:t>A serious zero-day vulnerability has been discovered by the engineering departement</a:t>
            </a:r>
          </a:p>
          <a:p>
            <a:r>
              <a:rPr lang="en-TW" dirty="0"/>
              <a:t>The R&amp;D are unable to resovle the issue in t</a:t>
            </a:r>
            <a:r>
              <a:rPr lang="en-US" dirty="0"/>
              <a:t>he</a:t>
            </a:r>
            <a:r>
              <a:rPr lang="en-TW" dirty="0"/>
              <a:t> required time frame</a:t>
            </a:r>
          </a:p>
          <a:p>
            <a:r>
              <a:rPr lang="en-TW" dirty="0"/>
              <a:t>What are actions would you take?</a:t>
            </a:r>
          </a:p>
          <a:p>
            <a:pPr marL="0" indent="0">
              <a:buNone/>
            </a:pP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1584628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A1A795-9F3B-4412-B88B-45CFD41624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119176-D999-4429-8EE2-965C05B03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4918B7-0D16-48A2-8B49-9948EC9BD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C89877-4A68-BBB6-53F4-AC864AB50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457" y="531278"/>
            <a:ext cx="3211517" cy="5292579"/>
          </a:xfrm>
        </p:spPr>
        <p:txBody>
          <a:bodyPr>
            <a:normAutofit/>
          </a:bodyPr>
          <a:lstStyle/>
          <a:p>
            <a:r>
              <a:rPr lang="en-TW" dirty="0">
                <a:solidFill>
                  <a:srgbClr val="FFFFFF"/>
                </a:solidFill>
              </a:rPr>
              <a:t>Steps 1 - 8</a:t>
            </a: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F72123AE-04D3-447B-AB03-A6913AB38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422108" y="0"/>
            <a:ext cx="7769892" cy="6858000"/>
          </a:xfrm>
          <a:custGeom>
            <a:avLst/>
            <a:gdLst>
              <a:gd name="connsiteX0" fmla="*/ 1779516 w 7769892"/>
              <a:gd name="connsiteY0" fmla="*/ 0 h 6837536"/>
              <a:gd name="connsiteX1" fmla="*/ 6454848 w 7769892"/>
              <a:gd name="connsiteY1" fmla="*/ 0 h 6837536"/>
              <a:gd name="connsiteX2" fmla="*/ 6511730 w 7769892"/>
              <a:gd name="connsiteY2" fmla="*/ 37905 h 6837536"/>
              <a:gd name="connsiteX3" fmla="*/ 7769892 w 7769892"/>
              <a:gd name="connsiteY3" fmla="*/ 1486041 h 6837536"/>
              <a:gd name="connsiteX4" fmla="*/ 7769892 w 7769892"/>
              <a:gd name="connsiteY4" fmla="*/ 5281056 h 6837536"/>
              <a:gd name="connsiteX5" fmla="*/ 6353475 w 7769892"/>
              <a:gd name="connsiteY5" fmla="*/ 6837536 h 6837536"/>
              <a:gd name="connsiteX6" fmla="*/ 1882727 w 7769892"/>
              <a:gd name="connsiteY6" fmla="*/ 6837536 h 6837536"/>
              <a:gd name="connsiteX7" fmla="*/ 0 w 7769892"/>
              <a:gd name="connsiteY7" fmla="*/ 3386463 h 6837536"/>
              <a:gd name="connsiteX8" fmla="*/ 1655292 w 7769892"/>
              <a:gd name="connsiteY8" fmla="*/ 88307 h 6837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769892" h="6837536">
                <a:moveTo>
                  <a:pt x="1779516" y="0"/>
                </a:moveTo>
                <a:lnTo>
                  <a:pt x="6454848" y="0"/>
                </a:lnTo>
                <a:lnTo>
                  <a:pt x="6511730" y="37905"/>
                </a:lnTo>
                <a:cubicBezTo>
                  <a:pt x="7036410" y="413592"/>
                  <a:pt x="7468976" y="909648"/>
                  <a:pt x="7769892" y="1486041"/>
                </a:cubicBezTo>
                <a:cubicBezTo>
                  <a:pt x="7769892" y="1486041"/>
                  <a:pt x="7769892" y="1486041"/>
                  <a:pt x="7769892" y="5281056"/>
                </a:cubicBezTo>
                <a:cubicBezTo>
                  <a:pt x="7437646" y="5916473"/>
                  <a:pt x="6953850" y="6452788"/>
                  <a:pt x="6353475" y="6837536"/>
                </a:cubicBezTo>
                <a:cubicBezTo>
                  <a:pt x="6353475" y="6837536"/>
                  <a:pt x="6353475" y="6837536"/>
                  <a:pt x="1882727" y="6837536"/>
                </a:cubicBezTo>
                <a:cubicBezTo>
                  <a:pt x="751925" y="6103017"/>
                  <a:pt x="0" y="4832183"/>
                  <a:pt x="0" y="3386463"/>
                </a:cubicBezTo>
                <a:cubicBezTo>
                  <a:pt x="0" y="2036566"/>
                  <a:pt x="651406" y="838748"/>
                  <a:pt x="1655292" y="88307"/>
                </a:cubicBezTo>
                <a:close/>
              </a:path>
            </a:pathLst>
          </a:custGeom>
          <a:ln w="50800" cap="sq" cmpd="dbl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wrap="square" lIns="91440" tIns="45720" rIns="91440" bIns="45720" rtlCol="0" anchor="t">
            <a:no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6A37E6-4B79-A433-97B8-930FA01D39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0231635"/>
              </p:ext>
            </p:extLst>
          </p:nvPr>
        </p:nvGraphicFramePr>
        <p:xfrm>
          <a:off x="5617029" y="793820"/>
          <a:ext cx="5741534" cy="5170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752653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E36DE-E265-EE68-D444-8483E6EE4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Vulnerability Qualification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4ECB8-3E0C-CC79-B815-6251DCD9F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Verify a vulnerability exists and is not a matter of poor security hygiene. For example, is this vulnerability or an issue related to user not employing multi-factor authentication? </a:t>
            </a:r>
            <a:endParaRPr lang="en-TW" dirty="0"/>
          </a:p>
          <a:p>
            <a:pPr marL="2800350" lvl="5" indent="-514350">
              <a:buAutoNum type="arabicPeriod"/>
            </a:pPr>
            <a:r>
              <a:rPr lang="en-US" dirty="0"/>
              <a:t>As a CVE Naming Authority (CNA), Microsoft follows the </a:t>
            </a: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MITRE.org</a:t>
            </a:r>
            <a:r>
              <a:rPr lang="en-US" dirty="0"/>
              <a:t> definition of a security vulnerability which defines a security vulnerability as “a weakness in the computational logic (e.g., code) found in software and hardware components that, when exploited, results in a negative impact to confidentiality, integrity, OR availability. </a:t>
            </a:r>
          </a:p>
          <a:p>
            <a:pPr marL="2800350" lvl="5" indent="-514350">
              <a:buFont typeface="Arial" panose="020B0604020202020204" pitchFamily="34" charset="0"/>
              <a:buAutoNum type="arabicPeriod"/>
            </a:pPr>
            <a:r>
              <a:rPr lang="en-TW" dirty="0"/>
              <a:t>Check that the vulnerability reaches the vulnerability level on the ‘Bug Bar’: </a:t>
            </a:r>
            <a:r>
              <a:rPr lang="en-US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https://www.microsoft.com/en-us/msrc/sdlbugbar#:~:text=This%20bug%20bar%20describes%20different,fulfill%20requests%20from%20client%20processes</a:t>
            </a:r>
            <a:endParaRPr lang="en-US" dirty="0"/>
          </a:p>
          <a:p>
            <a:pPr marL="0" lvl="4" indent="0">
              <a:buNone/>
            </a:pPr>
            <a:endParaRPr lang="en-TW" dirty="0"/>
          </a:p>
          <a:p>
            <a:pPr marL="2800350" lvl="5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092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41527-BE66-A86E-B7D8-5DB3429CE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>
            <a:normAutofit/>
          </a:bodyPr>
          <a:lstStyle/>
          <a:p>
            <a:r>
              <a:rPr lang="en-TW"/>
              <a:t>Verify Severity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52EAB-EE0F-2028-25AD-196852EE0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Calculate the CVSS score: </a:t>
            </a:r>
            <a:r>
              <a:rPr lang="en-US" dirty="0">
                <a:hlinkClick r:id="rId4"/>
              </a:rPr>
              <a:t>Calculator</a:t>
            </a:r>
            <a:endParaRPr lang="en-US" dirty="0"/>
          </a:p>
          <a:p>
            <a:pPr marL="514350" indent="-514350">
              <a:buAutoNum type="arabicPeriod"/>
            </a:pPr>
            <a:r>
              <a:rPr lang="en-TW" altLang="en-TW" dirty="0"/>
              <a:t>Define Categories and Criteria: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86A6889-D4A3-3518-A0CA-0F4570C2A8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93599"/>
              </p:ext>
            </p:extLst>
          </p:nvPr>
        </p:nvGraphicFramePr>
        <p:xfrm>
          <a:off x="5289752" y="1060205"/>
          <a:ext cx="6095594" cy="4575361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04539">
                  <a:extLst>
                    <a:ext uri="{9D8B030D-6E8A-4147-A177-3AD203B41FA5}">
                      <a16:colId xmlns:a16="http://schemas.microsoft.com/office/drawing/2014/main" val="647122064"/>
                    </a:ext>
                  </a:extLst>
                </a:gridCol>
                <a:gridCol w="3891055">
                  <a:extLst>
                    <a:ext uri="{9D8B030D-6E8A-4147-A177-3AD203B41FA5}">
                      <a16:colId xmlns:a16="http://schemas.microsoft.com/office/drawing/2014/main" val="2735904686"/>
                    </a:ext>
                  </a:extLst>
                </a:gridCol>
              </a:tblGrid>
              <a:tr h="500594"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Category Type</a:t>
                      </a:r>
                    </a:p>
                  </a:txBody>
                  <a:tcPr marL="73514" marR="105020" marT="21004" marB="15753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Examples</a:t>
                      </a:r>
                    </a:p>
                  </a:txBody>
                  <a:tcPr marL="73514" marR="105020" marT="21004" marB="157530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280681"/>
                  </a:ext>
                </a:extLst>
              </a:tr>
              <a:tr h="430581">
                <a:tc>
                  <a:txBody>
                    <a:bodyPr/>
                    <a:lstStyle/>
                    <a:p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Date and Time</a:t>
                      </a:r>
                    </a:p>
                  </a:txBody>
                  <a:tcPr marL="73514" marR="105020" marT="21004" marB="15753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1400" b="0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01/01/01 20:00</a:t>
                      </a:r>
                    </a:p>
                  </a:txBody>
                  <a:tcPr marL="73514" marR="105020" marT="21004" marB="1575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345472"/>
                  </a:ext>
                </a:extLst>
              </a:tr>
              <a:tr h="850660">
                <a:tc>
                  <a:txBody>
                    <a:bodyPr/>
                    <a:lstStyle/>
                    <a:p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Root Cause / CWE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3514" marR="105020" marT="21004" marB="15753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Buffer overflow, hardcoded credentials, race condition </a:t>
                      </a:r>
                    </a:p>
                    <a:p>
                      <a:pPr fontAlgn="b"/>
                      <a:r>
                        <a:rPr lang="en-US" sz="1400" b="0" i="0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CWE-787: Out-of-bounds Write</a:t>
                      </a:r>
                      <a:endParaRPr lang="en-US" sz="1400" b="0" i="0" kern="12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3514" marR="105020" marT="21004" marB="1575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4422898"/>
                  </a:ext>
                </a:extLst>
              </a:tr>
              <a:tr h="430581">
                <a:tc>
                  <a:txBody>
                    <a:bodyPr/>
                    <a:lstStyle/>
                    <a:p>
                      <a:r>
                        <a:rPr lang="en-US" sz="1400" b="1" cap="none" spc="0" dirty="0">
                          <a:solidFill>
                            <a:schemeClr val="tx1"/>
                          </a:solidFill>
                        </a:rPr>
                        <a:t>Attack Surface</a:t>
                      </a:r>
                      <a:endParaRPr lang="en-U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3514" marR="105020" marT="21004" marB="15753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Web UI, network service, API, local CLI</a:t>
                      </a:r>
                    </a:p>
                  </a:txBody>
                  <a:tcPr marL="73514" marR="105020" marT="21004" marB="1575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0949291"/>
                  </a:ext>
                </a:extLst>
              </a:tr>
              <a:tr h="430581">
                <a:tc>
                  <a:txBody>
                    <a:bodyPr/>
                    <a:lstStyle/>
                    <a:p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Impact Type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3514" marR="105020" marT="21004" marB="15753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Confidentiality, Integrity, Availability, Safety</a:t>
                      </a:r>
                    </a:p>
                  </a:txBody>
                  <a:tcPr marL="73514" marR="105020" marT="21004" marB="1575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662635"/>
                  </a:ext>
                </a:extLst>
              </a:tr>
              <a:tr h="430581">
                <a:tc>
                  <a:txBody>
                    <a:bodyPr/>
                    <a:lstStyle/>
                    <a:p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Exploitability Level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3514" marR="105020" marT="21004" marB="15753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Remote/Local, Privileged/Unprivileged</a:t>
                      </a:r>
                    </a:p>
                  </a:txBody>
                  <a:tcPr marL="73514" marR="105020" marT="21004" marB="1575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817501"/>
                  </a:ext>
                </a:extLst>
              </a:tr>
              <a:tr h="430581">
                <a:tc>
                  <a:txBody>
                    <a:bodyPr/>
                    <a:lstStyle/>
                    <a:p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CVSS Score Range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3514" marR="105020" marT="21004" marB="15753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Critical (9.0–10), High (7.0–8.9), etc.</a:t>
                      </a:r>
                    </a:p>
                  </a:txBody>
                  <a:tcPr marL="73514" marR="105020" marT="21004" marB="1575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691161"/>
                  </a:ext>
                </a:extLst>
              </a:tr>
              <a:tr h="430581">
                <a:tc>
                  <a:txBody>
                    <a:bodyPr/>
                    <a:lstStyle/>
                    <a:p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Product(s)/Component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3514" marR="105020" marT="21004" marB="15753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>
                          <a:solidFill>
                            <a:schemeClr val="tx1"/>
                          </a:solidFill>
                        </a:rPr>
                        <a:t>Affected module, firmware version, library</a:t>
                      </a:r>
                    </a:p>
                  </a:txBody>
                  <a:tcPr marL="73514" marR="105020" marT="21004" marB="1575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902054"/>
                  </a:ext>
                </a:extLst>
              </a:tr>
              <a:tr h="640621">
                <a:tc>
                  <a:txBody>
                    <a:bodyPr/>
                    <a:lstStyle/>
                    <a:p>
                      <a:r>
                        <a:rPr lang="en-US" sz="1400" b="1" cap="none" spc="0">
                          <a:solidFill>
                            <a:schemeClr val="tx1"/>
                          </a:solidFill>
                        </a:rPr>
                        <a:t>Threat Context</a:t>
                      </a:r>
                      <a:endParaRPr lang="en-US" sz="14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3514" marR="105020" marT="21004" marB="157530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cap="none" spc="0" dirty="0">
                          <a:solidFill>
                            <a:schemeClr val="tx1"/>
                          </a:solidFill>
                        </a:rPr>
                        <a:t>Zero- Day; Used in the wild (e.g., “Attacked” in CVSS); or Proof-of-Concept exists</a:t>
                      </a:r>
                    </a:p>
                  </a:txBody>
                  <a:tcPr marL="73514" marR="105020" marT="21004" marB="15753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7238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692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472CA8-69C1-4C4C-99DA-E3B5A6560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4E62145-8A0A-453A-AAA6-52E1C6BB26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0E6F02-9882-8439-2E4A-E4E151911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>
            <a:normAutofit/>
          </a:bodyPr>
          <a:lstStyle/>
          <a:p>
            <a:r>
              <a:rPr lang="en-TW" sz="2800" dirty="0">
                <a:solidFill>
                  <a:srgbClr val="FFFFFF"/>
                </a:solidFill>
              </a:rPr>
              <a:t>Advise Internal Stakeholders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4629096-4CBA-342B-4630-A3DD31ABC0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678305"/>
              </p:ext>
            </p:extLst>
          </p:nvPr>
        </p:nvGraphicFramePr>
        <p:xfrm>
          <a:off x="4808601" y="901700"/>
          <a:ext cx="6545199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5143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6EAEB-19A5-73D5-F6EB-0C40ABD66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Picture 2054">
            <a:extLst>
              <a:ext uri="{FF2B5EF4-FFF2-40B4-BE49-F238E27FC236}">
                <a16:creationId xmlns:a16="http://schemas.microsoft.com/office/drawing/2014/main" id="{4432DA31-8308-4F44-87C4-068169AA4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CD5469C-8856-BB9C-0A42-92FED876A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16" y="955040"/>
            <a:ext cx="4513792" cy="28193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dirty="0"/>
              <a:t>Reproduction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69144F-99A1-E29B-4CB9-E45152DFCED0}"/>
              </a:ext>
            </a:extLst>
          </p:cNvPr>
          <p:cNvSpPr txBox="1"/>
          <p:nvPr/>
        </p:nvSpPr>
        <p:spPr>
          <a:xfrm>
            <a:off x="171916" y="3774439"/>
            <a:ext cx="4513792" cy="9144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spcAft>
                <a:spcPts val="1000"/>
              </a:spcAft>
              <a:buClr>
                <a:schemeClr val="tx1"/>
              </a:buClr>
              <a:buSzPct val="100000"/>
            </a:pPr>
            <a:r>
              <a:rPr lang="en-US" cap="all" dirty="0"/>
              <a:t>Reproduce the vulnerability</a:t>
            </a:r>
          </a:p>
        </p:txBody>
      </p:sp>
      <p:sp>
        <p:nvSpPr>
          <p:cNvPr id="2057" name="Freeform 5">
            <a:extLst>
              <a:ext uri="{FF2B5EF4-FFF2-40B4-BE49-F238E27FC236}">
                <a16:creationId xmlns:a16="http://schemas.microsoft.com/office/drawing/2014/main" id="{FF1A693B-B01F-495D-B7C3-A8A32FABD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tx1"/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059" name="Freeform 14">
            <a:extLst>
              <a:ext uri="{FF2B5EF4-FFF2-40B4-BE49-F238E27FC236}">
                <a16:creationId xmlns:a16="http://schemas.microsoft.com/office/drawing/2014/main" id="{42EA3D89-AA8F-4B30-BD32-689BC08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61" name="Group 2060">
            <a:extLst>
              <a:ext uri="{FF2B5EF4-FFF2-40B4-BE49-F238E27FC236}">
                <a16:creationId xmlns:a16="http://schemas.microsoft.com/office/drawing/2014/main" id="{E8560822-202F-44A1-8AD0-4DFA0B978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2062" name="Straight Connector 2061">
              <a:extLst>
                <a:ext uri="{FF2B5EF4-FFF2-40B4-BE49-F238E27FC236}">
                  <a16:creationId xmlns:a16="http://schemas.microsoft.com/office/drawing/2014/main" id="{F6819FEB-3028-4930-BB95-4DF764A291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2062">
              <a:extLst>
                <a:ext uri="{FF2B5EF4-FFF2-40B4-BE49-F238E27FC236}">
                  <a16:creationId xmlns:a16="http://schemas.microsoft.com/office/drawing/2014/main" id="{BF9F751C-6659-4D1E-92FD-F653077543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4" name="Straight Connector 2063">
              <a:extLst>
                <a:ext uri="{FF2B5EF4-FFF2-40B4-BE49-F238E27FC236}">
                  <a16:creationId xmlns:a16="http://schemas.microsoft.com/office/drawing/2014/main" id="{ED2BF8AC-7D53-4998-8B45-DDA32D624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5" name="Straight Connector 2064">
              <a:extLst>
                <a:ext uri="{FF2B5EF4-FFF2-40B4-BE49-F238E27FC236}">
                  <a16:creationId xmlns:a16="http://schemas.microsoft.com/office/drawing/2014/main" id="{EC5B4D07-C909-48CD-A1B0-D48FD4D9B0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2065">
              <a:extLst>
                <a:ext uri="{FF2B5EF4-FFF2-40B4-BE49-F238E27FC236}">
                  <a16:creationId xmlns:a16="http://schemas.microsoft.com/office/drawing/2014/main" id="{A8043747-57B7-424E-81AA-F86746B46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7" name="Straight Connector 2066">
              <a:extLst>
                <a:ext uri="{FF2B5EF4-FFF2-40B4-BE49-F238E27FC236}">
                  <a16:creationId xmlns:a16="http://schemas.microsoft.com/office/drawing/2014/main" id="{C091A125-4718-4F53-81E7-7DD538EF25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2067">
              <a:extLst>
                <a:ext uri="{FF2B5EF4-FFF2-40B4-BE49-F238E27FC236}">
                  <a16:creationId xmlns:a16="http://schemas.microsoft.com/office/drawing/2014/main" id="{34490403-923C-4FBB-B4B5-9708272E78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9" name="Straight Connector 2068">
              <a:extLst>
                <a:ext uri="{FF2B5EF4-FFF2-40B4-BE49-F238E27FC236}">
                  <a16:creationId xmlns:a16="http://schemas.microsoft.com/office/drawing/2014/main" id="{11AF7DE2-46D4-4A1A-8502-679599FAA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2069">
              <a:extLst>
                <a:ext uri="{FF2B5EF4-FFF2-40B4-BE49-F238E27FC236}">
                  <a16:creationId xmlns:a16="http://schemas.microsoft.com/office/drawing/2014/main" id="{FAF0E1CC-1975-466F-9B4D-9727ECE1CB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1" name="Straight Connector 2070">
              <a:extLst>
                <a:ext uri="{FF2B5EF4-FFF2-40B4-BE49-F238E27FC236}">
                  <a16:creationId xmlns:a16="http://schemas.microsoft.com/office/drawing/2014/main" id="{FDF1D877-8EFC-4F1B-A677-51DE12C748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2071">
              <a:extLst>
                <a:ext uri="{FF2B5EF4-FFF2-40B4-BE49-F238E27FC236}">
                  <a16:creationId xmlns:a16="http://schemas.microsoft.com/office/drawing/2014/main" id="{27BC62A0-A1B6-4F2C-A7D7-6DDE86ED3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3" name="Straight Connector 2072">
              <a:extLst>
                <a:ext uri="{FF2B5EF4-FFF2-40B4-BE49-F238E27FC236}">
                  <a16:creationId xmlns:a16="http://schemas.microsoft.com/office/drawing/2014/main" id="{CDD51015-48F8-4C3D-A4CE-D9A9F52CBF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2073">
              <a:extLst>
                <a:ext uri="{FF2B5EF4-FFF2-40B4-BE49-F238E27FC236}">
                  <a16:creationId xmlns:a16="http://schemas.microsoft.com/office/drawing/2014/main" id="{6C8DF23A-8AC4-4AB0-89CF-DC73E1958E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F9F8B4E1-78B6-497E-ACAF-4EAF766F16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Straight Connector 2075">
              <a:extLst>
                <a:ext uri="{FF2B5EF4-FFF2-40B4-BE49-F238E27FC236}">
                  <a16:creationId xmlns:a16="http://schemas.microsoft.com/office/drawing/2014/main" id="{0DC6E287-A402-4B78-B9DE-59A55DEA42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0F1FD36A-C6E2-4FAD-A06A-17C2826DC7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8" name="Straight Connector 2077">
              <a:extLst>
                <a:ext uri="{FF2B5EF4-FFF2-40B4-BE49-F238E27FC236}">
                  <a16:creationId xmlns:a16="http://schemas.microsoft.com/office/drawing/2014/main" id="{D98148C8-561B-41C5-B84D-9038A55FF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9" name="Straight Connector 2078">
              <a:extLst>
                <a:ext uri="{FF2B5EF4-FFF2-40B4-BE49-F238E27FC236}">
                  <a16:creationId xmlns:a16="http://schemas.microsoft.com/office/drawing/2014/main" id="{D0E1BA28-1C9D-4B6A-8610-6EED517A21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0" name="Straight Connector 2079">
              <a:extLst>
                <a:ext uri="{FF2B5EF4-FFF2-40B4-BE49-F238E27FC236}">
                  <a16:creationId xmlns:a16="http://schemas.microsoft.com/office/drawing/2014/main" id="{4856D590-837C-4B34-AD19-BB4200B12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2080">
              <a:extLst>
                <a:ext uri="{FF2B5EF4-FFF2-40B4-BE49-F238E27FC236}">
                  <a16:creationId xmlns:a16="http://schemas.microsoft.com/office/drawing/2014/main" id="{626A8CDB-67AB-41B4-9D28-BB0A3D2958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2" name="Straight Connector 2081">
              <a:extLst>
                <a:ext uri="{FF2B5EF4-FFF2-40B4-BE49-F238E27FC236}">
                  <a16:creationId xmlns:a16="http://schemas.microsoft.com/office/drawing/2014/main" id="{CCE0B0B9-59BC-4F11-8D94-F395B1F84B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2082">
              <a:extLst>
                <a:ext uri="{FF2B5EF4-FFF2-40B4-BE49-F238E27FC236}">
                  <a16:creationId xmlns:a16="http://schemas.microsoft.com/office/drawing/2014/main" id="{284D4EEB-3A53-40A0-B4CB-9D0CC6FC1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4" name="Straight Connector 2083">
              <a:extLst>
                <a:ext uri="{FF2B5EF4-FFF2-40B4-BE49-F238E27FC236}">
                  <a16:creationId xmlns:a16="http://schemas.microsoft.com/office/drawing/2014/main" id="{873CEA0B-0FD7-469F-BFEB-12DEE7C9EC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2084">
              <a:extLst>
                <a:ext uri="{FF2B5EF4-FFF2-40B4-BE49-F238E27FC236}">
                  <a16:creationId xmlns:a16="http://schemas.microsoft.com/office/drawing/2014/main" id="{FA16A0F7-B0E9-4216-A538-A000F19FC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2085">
              <a:extLst>
                <a:ext uri="{FF2B5EF4-FFF2-40B4-BE49-F238E27FC236}">
                  <a16:creationId xmlns:a16="http://schemas.microsoft.com/office/drawing/2014/main" id="{AA2F049B-0BE4-4AE2-ABF4-D604BE5B52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7" name="Straight Connector 2086">
              <a:extLst>
                <a:ext uri="{FF2B5EF4-FFF2-40B4-BE49-F238E27FC236}">
                  <a16:creationId xmlns:a16="http://schemas.microsoft.com/office/drawing/2014/main" id="{5AA867C9-DE9A-4405-8E53-AC18CCEE7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2087">
              <a:extLst>
                <a:ext uri="{FF2B5EF4-FFF2-40B4-BE49-F238E27FC236}">
                  <a16:creationId xmlns:a16="http://schemas.microsoft.com/office/drawing/2014/main" id="{388425B5-1685-4D9F-87AA-213D8596F4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9" name="Straight Connector 2088">
              <a:extLst>
                <a:ext uri="{FF2B5EF4-FFF2-40B4-BE49-F238E27FC236}">
                  <a16:creationId xmlns:a16="http://schemas.microsoft.com/office/drawing/2014/main" id="{9F675449-5E54-4703-A333-7C844C69C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Straight Connector 2089">
              <a:extLst>
                <a:ext uri="{FF2B5EF4-FFF2-40B4-BE49-F238E27FC236}">
                  <a16:creationId xmlns:a16="http://schemas.microsoft.com/office/drawing/2014/main" id="{985F835A-372F-42AB-A530-928AC447F0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2090">
              <a:extLst>
                <a:ext uri="{FF2B5EF4-FFF2-40B4-BE49-F238E27FC236}">
                  <a16:creationId xmlns:a16="http://schemas.microsoft.com/office/drawing/2014/main" id="{D68D73EC-6E94-474A-95AE-0DF8F01A3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Straight Connector 2091">
              <a:extLst>
                <a:ext uri="{FF2B5EF4-FFF2-40B4-BE49-F238E27FC236}">
                  <a16:creationId xmlns:a16="http://schemas.microsoft.com/office/drawing/2014/main" id="{1CD7A246-2853-41AC-AEBA-B812D2DA5B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Straight Connector 2092">
              <a:extLst>
                <a:ext uri="{FF2B5EF4-FFF2-40B4-BE49-F238E27FC236}">
                  <a16:creationId xmlns:a16="http://schemas.microsoft.com/office/drawing/2014/main" id="{AEC8E081-AEE0-4D38-A497-DAE57B9C57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4" name="Straight Connector 2093">
              <a:extLst>
                <a:ext uri="{FF2B5EF4-FFF2-40B4-BE49-F238E27FC236}">
                  <a16:creationId xmlns:a16="http://schemas.microsoft.com/office/drawing/2014/main" id="{AEDFBE0B-3ABF-4BFB-A687-82C67B589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5" name="Straight Connector 2094">
              <a:extLst>
                <a:ext uri="{FF2B5EF4-FFF2-40B4-BE49-F238E27FC236}">
                  <a16:creationId xmlns:a16="http://schemas.microsoft.com/office/drawing/2014/main" id="{DB06B412-2CD5-479C-9885-1D6B02E5C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6" name="Straight Connector 2095">
              <a:extLst>
                <a:ext uri="{FF2B5EF4-FFF2-40B4-BE49-F238E27FC236}">
                  <a16:creationId xmlns:a16="http://schemas.microsoft.com/office/drawing/2014/main" id="{9F49912C-3259-4D0B-AB19-33BC8EA827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2096">
              <a:extLst>
                <a:ext uri="{FF2B5EF4-FFF2-40B4-BE49-F238E27FC236}">
                  <a16:creationId xmlns:a16="http://schemas.microsoft.com/office/drawing/2014/main" id="{3DD0A671-A77D-4985-8C1C-F7D735D9A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Straight Connector 2097">
              <a:extLst>
                <a:ext uri="{FF2B5EF4-FFF2-40B4-BE49-F238E27FC236}">
                  <a16:creationId xmlns:a16="http://schemas.microsoft.com/office/drawing/2014/main" id="{51791C46-32E4-4EA5-BCD1-6C917687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9" name="Straight Connector 2098">
              <a:extLst>
                <a:ext uri="{FF2B5EF4-FFF2-40B4-BE49-F238E27FC236}">
                  <a16:creationId xmlns:a16="http://schemas.microsoft.com/office/drawing/2014/main" id="{084802A4-337B-4DEE-935B-E5F9C0FA2E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0" name="Straight Connector 2099">
              <a:extLst>
                <a:ext uri="{FF2B5EF4-FFF2-40B4-BE49-F238E27FC236}">
                  <a16:creationId xmlns:a16="http://schemas.microsoft.com/office/drawing/2014/main" id="{818A605A-F0CB-4C95-B35C-187301ECA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2100">
              <a:extLst>
                <a:ext uri="{FF2B5EF4-FFF2-40B4-BE49-F238E27FC236}">
                  <a16:creationId xmlns:a16="http://schemas.microsoft.com/office/drawing/2014/main" id="{B4BBF6C9-9BE3-4B76-969D-FCC5846CB5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2" name="Straight Connector 2101">
              <a:extLst>
                <a:ext uri="{FF2B5EF4-FFF2-40B4-BE49-F238E27FC236}">
                  <a16:creationId xmlns:a16="http://schemas.microsoft.com/office/drawing/2014/main" id="{BF940DB1-E3A8-4445-B07A-DB784F68D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2102">
              <a:extLst>
                <a:ext uri="{FF2B5EF4-FFF2-40B4-BE49-F238E27FC236}">
                  <a16:creationId xmlns:a16="http://schemas.microsoft.com/office/drawing/2014/main" id="{2B42900D-37AA-4CC9-A27D-35327F49D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4" name="Straight Connector 2103">
              <a:extLst>
                <a:ext uri="{FF2B5EF4-FFF2-40B4-BE49-F238E27FC236}">
                  <a16:creationId xmlns:a16="http://schemas.microsoft.com/office/drawing/2014/main" id="{201FC7C9-6B6B-4D53-B616-5509384E5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Straight Connector 2104">
              <a:extLst>
                <a:ext uri="{FF2B5EF4-FFF2-40B4-BE49-F238E27FC236}">
                  <a16:creationId xmlns:a16="http://schemas.microsoft.com/office/drawing/2014/main" id="{75BBD75B-7F19-4752-A6BD-1642C987C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6" name="Straight Connector 2105">
              <a:extLst>
                <a:ext uri="{FF2B5EF4-FFF2-40B4-BE49-F238E27FC236}">
                  <a16:creationId xmlns:a16="http://schemas.microsoft.com/office/drawing/2014/main" id="{C8099A3D-93D4-47B2-BC23-8DB271983A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7" name="Straight Connector 2106">
              <a:extLst>
                <a:ext uri="{FF2B5EF4-FFF2-40B4-BE49-F238E27FC236}">
                  <a16:creationId xmlns:a16="http://schemas.microsoft.com/office/drawing/2014/main" id="{04A144D2-82FB-4610-ABA1-B9FBD7391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8" name="Straight Connector 2107">
              <a:extLst>
                <a:ext uri="{FF2B5EF4-FFF2-40B4-BE49-F238E27FC236}">
                  <a16:creationId xmlns:a16="http://schemas.microsoft.com/office/drawing/2014/main" id="{E782A9D6-5B2B-47A8-AB6D-7A5C6163CD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2108">
              <a:extLst>
                <a:ext uri="{FF2B5EF4-FFF2-40B4-BE49-F238E27FC236}">
                  <a16:creationId xmlns:a16="http://schemas.microsoft.com/office/drawing/2014/main" id="{E4D4EB4F-C925-4F2D-A620-1588FC290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0" name="Straight Connector 2109">
              <a:extLst>
                <a:ext uri="{FF2B5EF4-FFF2-40B4-BE49-F238E27FC236}">
                  <a16:creationId xmlns:a16="http://schemas.microsoft.com/office/drawing/2014/main" id="{C0104374-7C09-4324-B491-1E6EA7658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2110">
              <a:extLst>
                <a:ext uri="{FF2B5EF4-FFF2-40B4-BE49-F238E27FC236}">
                  <a16:creationId xmlns:a16="http://schemas.microsoft.com/office/drawing/2014/main" id="{682E5189-2C41-4C43-B8EC-13E0ACF46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2" name="Straight Connector 2111">
              <a:extLst>
                <a:ext uri="{FF2B5EF4-FFF2-40B4-BE49-F238E27FC236}">
                  <a16:creationId xmlns:a16="http://schemas.microsoft.com/office/drawing/2014/main" id="{D5DADB3E-0B98-443D-9A49-BBC833BF36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2112">
              <a:extLst>
                <a:ext uri="{FF2B5EF4-FFF2-40B4-BE49-F238E27FC236}">
                  <a16:creationId xmlns:a16="http://schemas.microsoft.com/office/drawing/2014/main" id="{6883516F-515E-4DBE-A2EB-0500F413A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4" name="Straight Connector 2113">
              <a:extLst>
                <a:ext uri="{FF2B5EF4-FFF2-40B4-BE49-F238E27FC236}">
                  <a16:creationId xmlns:a16="http://schemas.microsoft.com/office/drawing/2014/main" id="{BA34DACD-FEC2-494D-A789-C09F9A2B5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2114">
              <a:extLst>
                <a:ext uri="{FF2B5EF4-FFF2-40B4-BE49-F238E27FC236}">
                  <a16:creationId xmlns:a16="http://schemas.microsoft.com/office/drawing/2014/main" id="{47D83997-606B-41D3-9439-E2D41C784F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6" name="Straight Connector 2115">
              <a:extLst>
                <a:ext uri="{FF2B5EF4-FFF2-40B4-BE49-F238E27FC236}">
                  <a16:creationId xmlns:a16="http://schemas.microsoft.com/office/drawing/2014/main" id="{4A30A759-F1D3-4894-AC5E-96686CBD7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7" name="Straight Connector 2116">
              <a:extLst>
                <a:ext uri="{FF2B5EF4-FFF2-40B4-BE49-F238E27FC236}">
                  <a16:creationId xmlns:a16="http://schemas.microsoft.com/office/drawing/2014/main" id="{F5599209-8D45-463F-A6C3-95AC93BC4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2117">
              <a:extLst>
                <a:ext uri="{FF2B5EF4-FFF2-40B4-BE49-F238E27FC236}">
                  <a16:creationId xmlns:a16="http://schemas.microsoft.com/office/drawing/2014/main" id="{ED0DD26B-6FDE-4C29-A30B-903D439BE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9" name="Straight Connector 2118">
              <a:extLst>
                <a:ext uri="{FF2B5EF4-FFF2-40B4-BE49-F238E27FC236}">
                  <a16:creationId xmlns:a16="http://schemas.microsoft.com/office/drawing/2014/main" id="{61479C92-3879-47DD-9741-AD21E38734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Straight Connector 2119">
              <a:extLst>
                <a:ext uri="{FF2B5EF4-FFF2-40B4-BE49-F238E27FC236}">
                  <a16:creationId xmlns:a16="http://schemas.microsoft.com/office/drawing/2014/main" id="{DB70162F-223D-4EB1-9505-35D2AB612F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Straight Connector 2120">
              <a:extLst>
                <a:ext uri="{FF2B5EF4-FFF2-40B4-BE49-F238E27FC236}">
                  <a16:creationId xmlns:a16="http://schemas.microsoft.com/office/drawing/2014/main" id="{FD4B954B-C564-4F7B-8B86-5E2336FF9F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2121">
              <a:extLst>
                <a:ext uri="{FF2B5EF4-FFF2-40B4-BE49-F238E27FC236}">
                  <a16:creationId xmlns:a16="http://schemas.microsoft.com/office/drawing/2014/main" id="{62E90741-9F35-41E1-BF27-FBC92A75D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2122">
              <a:extLst>
                <a:ext uri="{FF2B5EF4-FFF2-40B4-BE49-F238E27FC236}">
                  <a16:creationId xmlns:a16="http://schemas.microsoft.com/office/drawing/2014/main" id="{08E2D2E8-098F-44DD-B4D6-D7514EB72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Straight Connector 2123">
              <a:extLst>
                <a:ext uri="{FF2B5EF4-FFF2-40B4-BE49-F238E27FC236}">
                  <a16:creationId xmlns:a16="http://schemas.microsoft.com/office/drawing/2014/main" id="{1376E433-9794-487F-9D24-65C61C401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2124">
              <a:extLst>
                <a:ext uri="{FF2B5EF4-FFF2-40B4-BE49-F238E27FC236}">
                  <a16:creationId xmlns:a16="http://schemas.microsoft.com/office/drawing/2014/main" id="{C971FF63-F764-417E-8C5D-B6FB5205A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6" name="Straight Connector 2125">
              <a:extLst>
                <a:ext uri="{FF2B5EF4-FFF2-40B4-BE49-F238E27FC236}">
                  <a16:creationId xmlns:a16="http://schemas.microsoft.com/office/drawing/2014/main" id="{1333B6C0-D004-4DF4-A04D-6BE5BB856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7" name="Straight Connector 2126">
              <a:extLst>
                <a:ext uri="{FF2B5EF4-FFF2-40B4-BE49-F238E27FC236}">
                  <a16:creationId xmlns:a16="http://schemas.microsoft.com/office/drawing/2014/main" id="{04BD1ECB-7B27-4957-9983-E91CAA5CE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2127">
              <a:extLst>
                <a:ext uri="{FF2B5EF4-FFF2-40B4-BE49-F238E27FC236}">
                  <a16:creationId xmlns:a16="http://schemas.microsoft.com/office/drawing/2014/main" id="{3F4CFF6C-2989-4090-BAE6-A14B3B855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9" name="Straight Connector 2128">
              <a:extLst>
                <a:ext uri="{FF2B5EF4-FFF2-40B4-BE49-F238E27FC236}">
                  <a16:creationId xmlns:a16="http://schemas.microsoft.com/office/drawing/2014/main" id="{387DB52A-D2E0-40E4-9419-EA35343EC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0" name="Straight Connector 2129">
              <a:extLst>
                <a:ext uri="{FF2B5EF4-FFF2-40B4-BE49-F238E27FC236}">
                  <a16:creationId xmlns:a16="http://schemas.microsoft.com/office/drawing/2014/main" id="{48D20BB4-F6E3-4D47-B94E-E3431DA39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1" name="Straight Connector 2130">
              <a:extLst>
                <a:ext uri="{FF2B5EF4-FFF2-40B4-BE49-F238E27FC236}">
                  <a16:creationId xmlns:a16="http://schemas.microsoft.com/office/drawing/2014/main" id="{B0728C10-A418-4572-9383-B5EF0A106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2" name="Straight Connector 2131">
              <a:extLst>
                <a:ext uri="{FF2B5EF4-FFF2-40B4-BE49-F238E27FC236}">
                  <a16:creationId xmlns:a16="http://schemas.microsoft.com/office/drawing/2014/main" id="{FC9E6DDC-9AD5-4EC0-8300-494012BEA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3" name="Straight Connector 2132">
              <a:extLst>
                <a:ext uri="{FF2B5EF4-FFF2-40B4-BE49-F238E27FC236}">
                  <a16:creationId xmlns:a16="http://schemas.microsoft.com/office/drawing/2014/main" id="{7CE0F0A0-5FD7-4A21-B839-69241D58A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4" name="Straight Connector 2133">
              <a:extLst>
                <a:ext uri="{FF2B5EF4-FFF2-40B4-BE49-F238E27FC236}">
                  <a16:creationId xmlns:a16="http://schemas.microsoft.com/office/drawing/2014/main" id="{AE29FDB8-240A-41E1-B846-0C9D20B0F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5" name="Straight Connector 2134">
              <a:extLst>
                <a:ext uri="{FF2B5EF4-FFF2-40B4-BE49-F238E27FC236}">
                  <a16:creationId xmlns:a16="http://schemas.microsoft.com/office/drawing/2014/main" id="{CE05712F-D9DC-499D-8805-38FDC2D0C0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6" name="Straight Connector 2135">
              <a:extLst>
                <a:ext uri="{FF2B5EF4-FFF2-40B4-BE49-F238E27FC236}">
                  <a16:creationId xmlns:a16="http://schemas.microsoft.com/office/drawing/2014/main" id="{9B87446A-0ADE-4BB1-AE78-7146B2676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7" name="Straight Connector 2136">
              <a:extLst>
                <a:ext uri="{FF2B5EF4-FFF2-40B4-BE49-F238E27FC236}">
                  <a16:creationId xmlns:a16="http://schemas.microsoft.com/office/drawing/2014/main" id="{58188F5D-F806-47EF-9225-C9B1A0AD4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8" name="Straight Connector 2137">
              <a:extLst>
                <a:ext uri="{FF2B5EF4-FFF2-40B4-BE49-F238E27FC236}">
                  <a16:creationId xmlns:a16="http://schemas.microsoft.com/office/drawing/2014/main" id="{52270029-B1B7-43AD-B34D-9B7AA9742B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9" name="Straight Connector 2138">
              <a:extLst>
                <a:ext uri="{FF2B5EF4-FFF2-40B4-BE49-F238E27FC236}">
                  <a16:creationId xmlns:a16="http://schemas.microsoft.com/office/drawing/2014/main" id="{B8013433-8074-40C7-812C-8A1B61DEF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50" name="Picture 2" descr="Vulnerability Verification/Reproduction">
            <a:extLst>
              <a:ext uri="{FF2B5EF4-FFF2-40B4-BE49-F238E27FC236}">
                <a16:creationId xmlns:a16="http://schemas.microsoft.com/office/drawing/2014/main" id="{8896877C-610B-57C2-F03E-4ECFFCFF4D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2887853"/>
            <a:ext cx="5693007" cy="2094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920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016A1-943C-5F67-55FC-0AA488401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>
            <a:normAutofit/>
          </a:bodyPr>
          <a:lstStyle/>
          <a:p>
            <a:r>
              <a:rPr lang="en-TW" dirty="0"/>
              <a:t>Remediate / Temporary Workaround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C4466-621F-3087-7586-740BC29C0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64" y="2287569"/>
            <a:ext cx="3997362" cy="227849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1BE48-815C-2275-3893-FD7BCF165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458" y="2251587"/>
            <a:ext cx="6593075" cy="3972232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TW" dirty="0"/>
              <a:t>Establish a situation room: </a:t>
            </a:r>
          </a:p>
          <a:p>
            <a:pPr marL="2800350" lvl="5" indent="-514350">
              <a:buAutoNum type="arabicPeriod"/>
            </a:pPr>
            <a:r>
              <a:rPr lang="en-TW" dirty="0"/>
              <a:t>SME: Devs, Engineers</a:t>
            </a:r>
          </a:p>
          <a:p>
            <a:pPr marL="2800350" lvl="5" indent="-514350">
              <a:buAutoNum type="arabicPeriod"/>
            </a:pPr>
            <a:r>
              <a:rPr lang="en-TW" dirty="0"/>
              <a:t>Legal, Communication, PR, and other relevant parties </a:t>
            </a:r>
          </a:p>
          <a:p>
            <a:pPr marL="514350" indent="-514350">
              <a:buFont typeface="+mj-lt"/>
              <a:buAutoNum type="arabicPeriod"/>
            </a:pPr>
            <a:r>
              <a:rPr lang="en-TW" dirty="0"/>
              <a:t>Create temporary workarounds solutions for the issue if remediation not possible </a:t>
            </a:r>
            <a:br>
              <a:rPr lang="en-TW" dirty="0"/>
            </a:br>
            <a:r>
              <a:rPr lang="en-TW" dirty="0"/>
              <a:t>and validate workaround. </a:t>
            </a:r>
          </a:p>
          <a:p>
            <a:pPr marL="514350" indent="-514350">
              <a:buAutoNum type="arabicPeriod"/>
            </a:pPr>
            <a:r>
              <a:rPr lang="en-TW" dirty="0"/>
              <a:t>How Vulnerability impacts all </a:t>
            </a:r>
            <a:br>
              <a:rPr lang="en-TW" dirty="0"/>
            </a:br>
            <a:r>
              <a:rPr lang="en-TW" dirty="0"/>
              <a:t>supported products</a:t>
            </a:r>
          </a:p>
          <a:p>
            <a:pPr marL="514350" indent="-514350">
              <a:buAutoNum type="arabicPeriod"/>
            </a:pPr>
            <a:r>
              <a:rPr lang="en-TW" dirty="0"/>
              <a:t>How will remedy be delivered</a:t>
            </a:r>
          </a:p>
          <a:p>
            <a:pPr marL="514350" indent="-514350">
              <a:buAutoNum type="arabicPeriod"/>
            </a:pPr>
            <a:r>
              <a:rPr lang="en-TW" dirty="0"/>
              <a:t>When it will be delivered</a:t>
            </a:r>
          </a:p>
          <a:p>
            <a:pPr marL="0" indent="0">
              <a:buNone/>
            </a:pPr>
            <a:endParaRPr lang="en-TW" dirty="0"/>
          </a:p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2016370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9E80-EA27-1154-22D9-CBFE30213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>
            <a:normAutofit/>
          </a:bodyPr>
          <a:lstStyle/>
          <a:p>
            <a:r>
              <a:rPr lang="en-TW" dirty="0"/>
              <a:t>Disclosure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F519D-A0AE-AE23-F33B-AE9CFF868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458" y="1784227"/>
            <a:ext cx="6593075" cy="3972232"/>
          </a:xfrm>
        </p:spPr>
        <p:txBody>
          <a:bodyPr>
            <a:normAutofit/>
          </a:bodyPr>
          <a:lstStyle/>
          <a:p>
            <a:r>
              <a:rPr lang="en-TW" dirty="0"/>
              <a:t>Common Security Advisory Framework</a:t>
            </a:r>
          </a:p>
          <a:p>
            <a:r>
              <a:rPr lang="en-US" dirty="0">
                <a:hlinkClick r:id="rId4"/>
              </a:rPr>
              <a:t>https://docs.oasis-open.org/csaf/csaf/v2.0/os/csaf-v2.0-os.md</a:t>
            </a:r>
            <a:endParaRPr lang="en-US" dirty="0"/>
          </a:p>
          <a:p>
            <a:r>
              <a:rPr lang="en-TW" dirty="0"/>
              <a:t>Advise Stakeholders of the issue, temporary workaround, expected timeline, contact information for technical support</a:t>
            </a:r>
          </a:p>
          <a:p>
            <a:pPr lvl="5"/>
            <a:r>
              <a:rPr lang="en-US" dirty="0"/>
              <a:t>S</a:t>
            </a:r>
            <a:r>
              <a:rPr lang="en-TW" dirty="0"/>
              <a:t>takeholders include, sales, legal, engineering, support, executives, …</a:t>
            </a:r>
          </a:p>
          <a:p>
            <a:r>
              <a:rPr lang="en-US" dirty="0"/>
              <a:t>U</a:t>
            </a:r>
            <a:r>
              <a:rPr lang="en-TW" dirty="0"/>
              <a:t>pdate internal wiki support documents of temporary workaround, expected delivery time and delivery method </a:t>
            </a:r>
          </a:p>
          <a:p>
            <a:r>
              <a:rPr lang="en-TW" dirty="0"/>
              <a:t>May not disclose publicly until fix has been created*</a:t>
            </a:r>
          </a:p>
        </p:txBody>
      </p:sp>
      <p:pic>
        <p:nvPicPr>
          <p:cNvPr id="7" name="Graphic 6" descr="Users">
            <a:extLst>
              <a:ext uri="{FF2B5EF4-FFF2-40B4-BE49-F238E27FC236}">
                <a16:creationId xmlns:a16="http://schemas.microsoft.com/office/drawing/2014/main" id="{45210F7A-8B66-B881-57AE-DC9189F009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3464" y="1428135"/>
            <a:ext cx="3997362" cy="399736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4956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85CAE-0DB6-7BAB-1F67-8DF4BBA70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7505F9-F8FE-DD54-181D-043301DBDB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75" b="10758"/>
          <a:stretch>
            <a:fillRect/>
          </a:stretch>
        </p:blipFill>
        <p:spPr>
          <a:xfrm>
            <a:off x="-6214" y="10"/>
            <a:ext cx="12214825" cy="3383374"/>
          </a:xfrm>
          <a:custGeom>
            <a:avLst/>
            <a:gdLst/>
            <a:ahLst/>
            <a:cxnLst/>
            <a:rect l="l" t="t" r="r" b="b"/>
            <a:pathLst>
              <a:path w="12214825" h="3383384">
                <a:moveTo>
                  <a:pt x="12213819" y="0"/>
                </a:moveTo>
                <a:cubicBezTo>
                  <a:pt x="12213819" y="29107"/>
                  <a:pt x="12214067" y="89770"/>
                  <a:pt x="12214502" y="174101"/>
                </a:cubicBezTo>
                <a:lnTo>
                  <a:pt x="12214825" y="234681"/>
                </a:lnTo>
                <a:lnTo>
                  <a:pt x="12214825" y="2718323"/>
                </a:lnTo>
                <a:lnTo>
                  <a:pt x="11377417" y="2725712"/>
                </a:lnTo>
                <a:cubicBezTo>
                  <a:pt x="7318291" y="2799276"/>
                  <a:pt x="6189525" y="3387660"/>
                  <a:pt x="3246747" y="3383361"/>
                </a:cubicBezTo>
                <a:cubicBezTo>
                  <a:pt x="2493396" y="3382260"/>
                  <a:pt x="1619330" y="3339570"/>
                  <a:pt x="544071" y="3235389"/>
                </a:cubicBezTo>
                <a:lnTo>
                  <a:pt x="19466" y="3181198"/>
                </a:lnTo>
                <a:cubicBezTo>
                  <a:pt x="22117" y="2650999"/>
                  <a:pt x="12840" y="2122787"/>
                  <a:pt x="3563" y="1594575"/>
                </a:cubicBezTo>
                <a:lnTo>
                  <a:pt x="0" y="1239098"/>
                </a:lnTo>
                <a:lnTo>
                  <a:pt x="0" y="7944"/>
                </a:ln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81B2829-DDFF-75EF-07C1-B7D0EDB72422}"/>
              </a:ext>
            </a:extLst>
          </p:cNvPr>
          <p:cNvSpPr txBox="1">
            <a:spLocks/>
          </p:cNvSpPr>
          <p:nvPr/>
        </p:nvSpPr>
        <p:spPr>
          <a:xfrm>
            <a:off x="457200" y="3525807"/>
            <a:ext cx="5552414" cy="2722593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TW" dirty="0"/>
              <a:t>Continue with Remediation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9E1896F-844C-B384-93A4-E4CCBEE05691}"/>
              </a:ext>
            </a:extLst>
          </p:cNvPr>
          <p:cNvSpPr txBox="1">
            <a:spLocks/>
          </p:cNvSpPr>
          <p:nvPr/>
        </p:nvSpPr>
        <p:spPr>
          <a:xfrm>
            <a:off x="4710546" y="3525807"/>
            <a:ext cx="7288926" cy="27225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TW" sz="2000"/>
              <a:t>Important Points</a:t>
            </a:r>
          </a:p>
          <a:p>
            <a:pPr marL="0" indent="0">
              <a:buFont typeface="Arial"/>
              <a:buNone/>
            </a:pPr>
            <a:r>
              <a:rPr lang="en-TW" sz="2000"/>
              <a:t>Risk Management in the case of no solution:</a:t>
            </a:r>
          </a:p>
          <a:p>
            <a:pPr marL="457200" indent="-457200">
              <a:buFont typeface="Arial"/>
              <a:buAutoNum type="arabicPeriod"/>
            </a:pPr>
            <a:r>
              <a:rPr lang="en-TW" sz="2000"/>
              <a:t>Notify and document.</a:t>
            </a:r>
          </a:p>
          <a:p>
            <a:pPr marL="457200" indent="-457200">
              <a:buFont typeface="Arial"/>
              <a:buAutoNum type="arabicPeriod"/>
            </a:pPr>
            <a:r>
              <a:rPr lang="en-US" sz="2000"/>
              <a:t>H</a:t>
            </a:r>
            <a:r>
              <a:rPr lang="en-TW" sz="2000"/>
              <a:t>ow will risk be managed?</a:t>
            </a:r>
          </a:p>
          <a:p>
            <a:pPr marL="457200" indent="-457200">
              <a:buFont typeface="Arial"/>
              <a:buAutoNum type="arabicPeriod"/>
            </a:pPr>
            <a:r>
              <a:rPr lang="en-TW" sz="2000"/>
              <a:t>Which stakeholders accept risk?</a:t>
            </a:r>
            <a:endParaRPr lang="en-TW" sz="2000" dirty="0"/>
          </a:p>
        </p:txBody>
      </p:sp>
    </p:spTree>
    <p:extLst>
      <p:ext uri="{BB962C8B-B14F-4D97-AF65-F5344CB8AC3E}">
        <p14:creationId xmlns:p14="http://schemas.microsoft.com/office/powerpoint/2010/main" val="4120295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AFEB9-44C3-905D-37E2-2DF2717DB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4F7C4-CADA-D023-8C52-636626A9F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>
            <a:normAutofit/>
          </a:bodyPr>
          <a:lstStyle/>
          <a:p>
            <a:r>
              <a:rPr lang="en-TW" dirty="0"/>
              <a:t>Disclose FIX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36A67-20FA-43DA-4230-16E00F4AF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458" y="1784227"/>
            <a:ext cx="6593075" cy="3972232"/>
          </a:xfrm>
        </p:spPr>
        <p:txBody>
          <a:bodyPr>
            <a:normAutofit/>
          </a:bodyPr>
          <a:lstStyle/>
          <a:p>
            <a:r>
              <a:rPr lang="en-TW" dirty="0"/>
              <a:t>Common Security Advisory Framework</a:t>
            </a:r>
          </a:p>
          <a:p>
            <a:r>
              <a:rPr lang="en-US" dirty="0">
                <a:hlinkClick r:id="rId3"/>
              </a:rPr>
              <a:t>https://docs.oasis-open.org/csaf/csaf/v2.0/os/csaf-v2.0-os.md</a:t>
            </a:r>
            <a:endParaRPr lang="en-US" dirty="0"/>
          </a:p>
          <a:p>
            <a:r>
              <a:rPr lang="en-US" dirty="0"/>
              <a:t>Communicate with upstream, downstream vendors, researchers etc.</a:t>
            </a:r>
          </a:p>
          <a:p>
            <a:r>
              <a:rPr lang="en-US" dirty="0"/>
              <a:t>Gather metrics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Graphic 6" descr="Users">
            <a:extLst>
              <a:ext uri="{FF2B5EF4-FFF2-40B4-BE49-F238E27FC236}">
                <a16:creationId xmlns:a16="http://schemas.microsoft.com/office/drawing/2014/main" id="{69CEDA0F-9207-7581-97AD-3BC78DDE36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3464" y="1428135"/>
            <a:ext cx="3997362" cy="399736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6600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B2A8B43-E288-418B-8561-C979F7B9C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584CD3-40DA-4BB8-B4B7-D8D04BB31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0568"/>
            <a:ext cx="12188825" cy="6856214"/>
          </a:xfrm>
          <a:prstGeom prst="rect">
            <a:avLst/>
          </a:prstGeom>
        </p:spPr>
      </p:pic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F40D237A-4D9F-42DC-BAEB-E07EDD74B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0541643" cy="6858000"/>
          </a:xfrm>
          <a:custGeom>
            <a:avLst/>
            <a:gdLst>
              <a:gd name="connsiteX0" fmla="*/ 10541643 w 10541643"/>
              <a:gd name="connsiteY0" fmla="*/ 0 h 6858000"/>
              <a:gd name="connsiteX1" fmla="*/ 8414569 w 10541643"/>
              <a:gd name="connsiteY1" fmla="*/ 0 h 6858000"/>
              <a:gd name="connsiteX2" fmla="*/ 7787557 w 10541643"/>
              <a:gd name="connsiteY2" fmla="*/ 0 h 6858000"/>
              <a:gd name="connsiteX3" fmla="*/ 5640889 w 10541643"/>
              <a:gd name="connsiteY3" fmla="*/ 0 h 6858000"/>
              <a:gd name="connsiteX4" fmla="*/ 1682914 w 10541643"/>
              <a:gd name="connsiteY4" fmla="*/ 0 h 6858000"/>
              <a:gd name="connsiteX5" fmla="*/ 0 w 10541643"/>
              <a:gd name="connsiteY5" fmla="*/ 6858000 h 6858000"/>
              <a:gd name="connsiteX6" fmla="*/ 5640889 w 10541643"/>
              <a:gd name="connsiteY6" fmla="*/ 6858000 h 6858000"/>
              <a:gd name="connsiteX7" fmla="*/ 6731655 w 10541643"/>
              <a:gd name="connsiteY7" fmla="*/ 6858000 h 6858000"/>
              <a:gd name="connsiteX8" fmla="*/ 7787557 w 10541643"/>
              <a:gd name="connsiteY8" fmla="*/ 6858000 h 6858000"/>
              <a:gd name="connsiteX9" fmla="*/ 8414569 w 10541643"/>
              <a:gd name="connsiteY9" fmla="*/ 6858000 h 6858000"/>
              <a:gd name="connsiteX10" fmla="*/ 10541643 w 10541643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541643" h="6858000">
                <a:moveTo>
                  <a:pt x="10541643" y="0"/>
                </a:moveTo>
                <a:lnTo>
                  <a:pt x="8414569" y="0"/>
                </a:lnTo>
                <a:lnTo>
                  <a:pt x="7787557" y="0"/>
                </a:lnTo>
                <a:lnTo>
                  <a:pt x="5640889" y="0"/>
                </a:lnTo>
                <a:lnTo>
                  <a:pt x="1682914" y="0"/>
                </a:lnTo>
                <a:lnTo>
                  <a:pt x="0" y="6858000"/>
                </a:lnTo>
                <a:lnTo>
                  <a:pt x="5640889" y="6858000"/>
                </a:lnTo>
                <a:lnTo>
                  <a:pt x="6731655" y="6858000"/>
                </a:lnTo>
                <a:lnTo>
                  <a:pt x="7787557" y="6858000"/>
                </a:lnTo>
                <a:lnTo>
                  <a:pt x="8414569" y="6858000"/>
                </a:lnTo>
                <a:lnTo>
                  <a:pt x="10541643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BD3D59-9552-A54B-7E4D-D69168DC1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0"/>
            <a:ext cx="7739741" cy="922867"/>
          </a:xfrm>
        </p:spPr>
        <p:txBody>
          <a:bodyPr anchor="b">
            <a:normAutofit/>
          </a:bodyPr>
          <a:lstStyle/>
          <a:p>
            <a:r>
              <a:rPr lang="en-TW" sz="3200"/>
              <a:t>Post-Mortem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94D5E-FF06-EF16-786E-A4A7B233C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3" y="1817423"/>
            <a:ext cx="8305798" cy="3973777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TW" sz="1500">
                <a:solidFill>
                  <a:schemeClr val="tx1">
                    <a:lumMod val="85000"/>
                    <a:lumOff val="15000"/>
                  </a:schemeClr>
                </a:solidFill>
              </a:rPr>
              <a:t>Conduct a post-mortem of the event and consider:</a:t>
            </a:r>
          </a:p>
          <a:p>
            <a:pPr marL="514350" indent="-514350">
              <a:lnSpc>
                <a:spcPct val="90000"/>
              </a:lnSpc>
              <a:buAutoNum type="arabicPeriod"/>
            </a:pPr>
            <a:r>
              <a:rPr lang="en-US" sz="150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r>
              <a:rPr lang="en-TW" sz="1500">
                <a:solidFill>
                  <a:schemeClr val="tx1">
                    <a:lumMod val="85000"/>
                    <a:lumOff val="15000"/>
                  </a:schemeClr>
                </a:solidFill>
              </a:rPr>
              <a:t>ime to fix</a:t>
            </a:r>
          </a:p>
          <a:p>
            <a:pPr marL="514350" indent="-514350">
              <a:lnSpc>
                <a:spcPct val="90000"/>
              </a:lnSpc>
              <a:buAutoNum type="arabicPeriod"/>
            </a:pPr>
            <a:r>
              <a:rPr lang="en-TW" sz="1500">
                <a:solidFill>
                  <a:schemeClr val="tx1">
                    <a:lumMod val="85000"/>
                    <a:lumOff val="15000"/>
                  </a:schemeClr>
                </a:solidFill>
              </a:rPr>
              <a:t>Bottle necks –&gt; training opportunities</a:t>
            </a:r>
          </a:p>
          <a:p>
            <a:pPr marL="2800350" lvl="5" indent="-514350">
              <a:lnSpc>
                <a:spcPct val="90000"/>
              </a:lnSpc>
              <a:buAutoNum type="arabicPeriod"/>
            </a:pPr>
            <a:r>
              <a:rPr lang="en-US" sz="1500">
                <a:solidFill>
                  <a:schemeClr val="tx1">
                    <a:lumMod val="85000"/>
                    <a:lumOff val="15000"/>
                  </a:schemeClr>
                </a:solidFill>
              </a:rPr>
              <a:t>A</a:t>
            </a:r>
            <a:r>
              <a:rPr lang="en-TW" sz="1500">
                <a:solidFill>
                  <a:schemeClr val="tx1">
                    <a:lumMod val="85000"/>
                    <a:lumOff val="15000"/>
                  </a:schemeClr>
                </a:solidFill>
              </a:rPr>
              <a:t>reas where communication was slow </a:t>
            </a:r>
          </a:p>
          <a:p>
            <a:pPr marL="2800350" lvl="5" indent="-514350">
              <a:lnSpc>
                <a:spcPct val="90000"/>
              </a:lnSpc>
              <a:buAutoNum type="arabicPeriod"/>
            </a:pPr>
            <a:r>
              <a:rPr lang="en-TW" sz="1500">
                <a:solidFill>
                  <a:schemeClr val="tx1">
                    <a:lumMod val="85000"/>
                    <a:lumOff val="15000"/>
                  </a:schemeClr>
                </a:solidFill>
              </a:rPr>
              <a:t>Areas where communication failed</a:t>
            </a:r>
          </a:p>
          <a:p>
            <a:pPr marL="2800350" lvl="5" indent="-514350">
              <a:lnSpc>
                <a:spcPct val="90000"/>
              </a:lnSpc>
              <a:buAutoNum type="arabicPeriod"/>
            </a:pPr>
            <a:r>
              <a:rPr lang="en-TW" sz="1500">
                <a:solidFill>
                  <a:schemeClr val="tx1">
                    <a:lumMod val="85000"/>
                    <a:lumOff val="15000"/>
                  </a:schemeClr>
                </a:solidFill>
              </a:rPr>
              <a:t>Neccesary information / supporting documents not available </a:t>
            </a:r>
          </a:p>
          <a:p>
            <a:pPr marL="2800350" lvl="5" indent="-514350">
              <a:lnSpc>
                <a:spcPct val="90000"/>
              </a:lnSpc>
              <a:buAutoNum type="arabicPeriod"/>
            </a:pPr>
            <a:r>
              <a:rPr lang="en-TW" sz="1500">
                <a:solidFill>
                  <a:schemeClr val="tx1">
                    <a:lumMod val="85000"/>
                    <a:lumOff val="15000"/>
                  </a:schemeClr>
                </a:solidFill>
              </a:rPr>
              <a:t>Parties that need to be added to the emergency incident response team</a:t>
            </a:r>
          </a:p>
          <a:p>
            <a:pPr marL="2800350" lvl="5" indent="-514350">
              <a:lnSpc>
                <a:spcPct val="90000"/>
              </a:lnSpc>
              <a:buAutoNum type="arabicPeriod"/>
            </a:pPr>
            <a:r>
              <a:rPr lang="en-TW" sz="1500">
                <a:solidFill>
                  <a:schemeClr val="tx1">
                    <a:lumMod val="85000"/>
                    <a:lumOff val="15000"/>
                  </a:schemeClr>
                </a:solidFill>
              </a:rPr>
              <a:t>Identify outdated tools / processes</a:t>
            </a:r>
          </a:p>
          <a:p>
            <a:pPr marL="2800350" lvl="5" indent="-514350">
              <a:lnSpc>
                <a:spcPct val="90000"/>
              </a:lnSpc>
              <a:buAutoNum type="arabicPeriod"/>
            </a:pPr>
            <a:r>
              <a:rPr lang="en-TW" sz="1500">
                <a:solidFill>
                  <a:schemeClr val="tx1">
                    <a:lumMod val="85000"/>
                    <a:lumOff val="15000"/>
                  </a:schemeClr>
                </a:solidFill>
              </a:rPr>
              <a:t>Methods / tools t</a:t>
            </a:r>
            <a:r>
              <a:rPr lang="en-US" sz="1500">
                <a:solidFill>
                  <a:schemeClr val="tx1">
                    <a:lumMod val="85000"/>
                    <a:lumOff val="15000"/>
                  </a:schemeClr>
                </a:solidFill>
              </a:rPr>
              <a:t>ha</a:t>
            </a:r>
            <a:r>
              <a:rPr lang="en-TW" sz="1500">
                <a:solidFill>
                  <a:schemeClr val="tx1">
                    <a:lumMod val="85000"/>
                    <a:lumOff val="15000"/>
                  </a:schemeClr>
                </a:solidFill>
              </a:rPr>
              <a:t>t would improve the process</a:t>
            </a:r>
          </a:p>
          <a:p>
            <a:pPr marL="2800350" lvl="5" indent="-514350">
              <a:lnSpc>
                <a:spcPct val="90000"/>
              </a:lnSpc>
              <a:buAutoNum type="arabicPeriod"/>
            </a:pPr>
            <a:r>
              <a:rPr lang="en-TW" sz="1500">
                <a:solidFill>
                  <a:schemeClr val="tx1">
                    <a:lumMod val="85000"/>
                    <a:lumOff val="15000"/>
                  </a:schemeClr>
                </a:solidFill>
              </a:rPr>
              <a:t>Ineffective training areas methods that need to be improved upon</a:t>
            </a:r>
          </a:p>
          <a:p>
            <a:pPr marL="514350" indent="-514350">
              <a:lnSpc>
                <a:spcPct val="90000"/>
              </a:lnSpc>
              <a:buAutoNum type="arabicPeriod"/>
            </a:pPr>
            <a:r>
              <a:rPr lang="en-TW" sz="1500">
                <a:solidFill>
                  <a:schemeClr val="tx1">
                    <a:lumMod val="85000"/>
                    <a:lumOff val="15000"/>
                  </a:schemeClr>
                </a:solidFill>
              </a:rPr>
              <a:t>Highlights -&gt; transferable processes across departments</a:t>
            </a:r>
          </a:p>
          <a:p>
            <a:pPr marL="2800350" lvl="5" indent="-514350">
              <a:lnSpc>
                <a:spcPct val="90000"/>
              </a:lnSpc>
              <a:buAutoNum type="arabicPeriod"/>
            </a:pPr>
            <a:r>
              <a:rPr lang="en-TW" sz="1500">
                <a:solidFill>
                  <a:schemeClr val="tx1">
                    <a:lumMod val="85000"/>
                    <a:lumOff val="15000"/>
                  </a:schemeClr>
                </a:solidFill>
              </a:rPr>
              <a:t>Areas communication succeeded and why</a:t>
            </a:r>
          </a:p>
          <a:p>
            <a:pPr marL="2800350" lvl="5" indent="-514350">
              <a:lnSpc>
                <a:spcPct val="90000"/>
              </a:lnSpc>
              <a:buAutoNum type="arabicPeriod"/>
            </a:pPr>
            <a:r>
              <a:rPr lang="en-TW" sz="1500">
                <a:solidFill>
                  <a:schemeClr val="tx1">
                    <a:lumMod val="85000"/>
                    <a:lumOff val="15000"/>
                  </a:schemeClr>
                </a:solidFill>
              </a:rPr>
              <a:t>New tools or processes that worked</a:t>
            </a:r>
          </a:p>
          <a:p>
            <a:pPr marL="2800350" lvl="5" indent="-514350">
              <a:lnSpc>
                <a:spcPct val="90000"/>
              </a:lnSpc>
              <a:buAutoNum type="arabicPeriod"/>
            </a:pPr>
            <a:r>
              <a:rPr lang="en-TW" sz="1500">
                <a:solidFill>
                  <a:schemeClr val="tx1">
                    <a:lumMod val="85000"/>
                    <a:lumOff val="15000"/>
                  </a:schemeClr>
                </a:solidFill>
              </a:rPr>
              <a:t>Training that was effective</a:t>
            </a:r>
          </a:p>
        </p:txBody>
      </p:sp>
    </p:spTree>
    <p:extLst>
      <p:ext uri="{BB962C8B-B14F-4D97-AF65-F5344CB8AC3E}">
        <p14:creationId xmlns:p14="http://schemas.microsoft.com/office/powerpoint/2010/main" val="1485864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8436</TotalTime>
  <Words>1083</Words>
  <Application>Microsoft Macintosh PowerPoint</Application>
  <PresentationFormat>Widescreen</PresentationFormat>
  <Paragraphs>136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Celestial</vt:lpstr>
      <vt:lpstr>MOXA  Interview </vt:lpstr>
      <vt:lpstr>AGENDA</vt:lpstr>
      <vt:lpstr>CNA - CVE Numbering Authority</vt:lpstr>
      <vt:lpstr>Handling a Zero-Day Vulnerability</vt:lpstr>
      <vt:lpstr>Steps 1 - 8</vt:lpstr>
      <vt:lpstr>Vulnerability Qualification</vt:lpstr>
      <vt:lpstr>Verify Severity</vt:lpstr>
      <vt:lpstr>Advise Internal Stakeholders</vt:lpstr>
      <vt:lpstr>Reproduction </vt:lpstr>
      <vt:lpstr>Remediate / Temporary Workaround</vt:lpstr>
      <vt:lpstr>Disclosure</vt:lpstr>
      <vt:lpstr>PowerPoint Presentation</vt:lpstr>
      <vt:lpstr>Disclose FIX </vt:lpstr>
      <vt:lpstr>Post-Mortem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Yang-Lee Dall'Olio</dc:creator>
  <cp:lastModifiedBy>Yang-Lee Dall'Olio</cp:lastModifiedBy>
  <cp:revision>8</cp:revision>
  <dcterms:created xsi:type="dcterms:W3CDTF">2025-07-04T02:48:47Z</dcterms:created>
  <dcterms:modified xsi:type="dcterms:W3CDTF">2025-07-14T05:07:39Z</dcterms:modified>
</cp:coreProperties>
</file>